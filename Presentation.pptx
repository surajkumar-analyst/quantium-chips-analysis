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Roboto" panose="02000000000000000000" pitchFamily="2" charset="0"/>
      <p:regular r:id="rId14"/>
      <p:bold r:id="rId15"/>
      <p:italic r:id="rId16"/>
      <p:boldItalic r:id="rId17"/>
    </p:embeddedFont>
    <p:embeddedFont>
      <p:font typeface="Roboto Light" panose="02000000000000000000" pitchFamily="2" charset="0"/>
      <p:regular r:id="rId18"/>
      <p:italic r:id="rId19"/>
    </p:embeddedFont>
    <p:embeddedFont>
      <p:font typeface="Roboto Medium" panose="02000000000000000000" pitchFamily="2" charset="0"/>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94" autoAdjust="0"/>
    <p:restoredTop sz="91283" autoAdjust="0"/>
  </p:normalViewPr>
  <p:slideViewPr>
    <p:cSldViewPr snapToGrid="0" showGuides="1">
      <p:cViewPr varScale="1">
        <p:scale>
          <a:sx n="75" d="100"/>
          <a:sy n="75" d="100"/>
        </p:scale>
        <p:origin x="1267" y="53"/>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5/06/2026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566AC9-2A0D-473B-9623-D34100E64E4F}" type="slidenum">
              <a:rPr lang="en-AU" smtClean="0"/>
              <a:t>6</a:t>
            </a:fld>
            <a:endParaRPr lang="en-AU" dirty="0"/>
          </a:p>
        </p:txBody>
      </p:sp>
    </p:spTree>
    <p:extLst>
      <p:ext uri="{BB962C8B-B14F-4D97-AF65-F5344CB8AC3E}">
        <p14:creationId xmlns:p14="http://schemas.microsoft.com/office/powerpoint/2010/main" val="3714795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566AC9-2A0D-473B-9623-D34100E64E4F}" type="slidenum">
              <a:rPr lang="en-AU" smtClean="0"/>
              <a:t>7</a:t>
            </a:fld>
            <a:endParaRPr lang="en-AU" dirty="0"/>
          </a:p>
        </p:txBody>
      </p:sp>
    </p:spTree>
    <p:extLst>
      <p:ext uri="{BB962C8B-B14F-4D97-AF65-F5344CB8AC3E}">
        <p14:creationId xmlns:p14="http://schemas.microsoft.com/office/powerpoint/2010/main" val="3649082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566AC9-2A0D-473B-9623-D34100E64E4F}" type="slidenum">
              <a:rPr lang="en-AU" smtClean="0"/>
              <a:t>9</a:t>
            </a:fld>
            <a:endParaRPr lang="en-AU" dirty="0"/>
          </a:p>
        </p:txBody>
      </p:sp>
    </p:spTree>
    <p:extLst>
      <p:ext uri="{BB962C8B-B14F-4D97-AF65-F5344CB8AC3E}">
        <p14:creationId xmlns:p14="http://schemas.microsoft.com/office/powerpoint/2010/main" val="2524286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4566AC9-2A0D-473B-9623-D34100E64E4F}" type="slidenum">
              <a:rPr lang="en-AU" smtClean="0"/>
              <a:t>10</a:t>
            </a:fld>
            <a:endParaRPr lang="en-AU" dirty="0"/>
          </a:p>
        </p:txBody>
      </p:sp>
    </p:spTree>
    <p:extLst>
      <p:ext uri="{BB962C8B-B14F-4D97-AF65-F5344CB8AC3E}">
        <p14:creationId xmlns:p14="http://schemas.microsoft.com/office/powerpoint/2010/main" val="4219400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2020</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r>
              <a:rPr lang="en-IN" sz="1200" b="1" dirty="0">
                <a:latin typeface="Roboto" panose="02000000000000000000" pitchFamily="2" charset="0"/>
                <a:ea typeface="Roboto" panose="02000000000000000000" pitchFamily="2" charset="0"/>
                <a:cs typeface="Roboto" panose="02000000000000000000" pitchFamily="2" charset="0"/>
              </a:rPr>
              <a:t>High-Level Finding</a:t>
            </a:r>
          </a:p>
          <a:p>
            <a:r>
              <a:rPr lang="en-IN" sz="1200" dirty="0">
                <a:latin typeface="Roboto" panose="02000000000000000000" pitchFamily="2" charset="0"/>
                <a:ea typeface="Roboto" panose="02000000000000000000" pitchFamily="2" charset="0"/>
                <a:cs typeface="Roboto" panose="02000000000000000000" pitchFamily="2" charset="0"/>
              </a:rPr>
              <a:t>Mainstream customers, Kettle products, and 175g pack sizes are the key drivers of chip category sales.</a:t>
            </a:r>
          </a:p>
          <a:p>
            <a:endParaRPr lang="en-IN" sz="1200" dirty="0">
              <a:latin typeface="Roboto" panose="02000000000000000000" pitchFamily="2" charset="0"/>
              <a:ea typeface="Roboto" panose="02000000000000000000" pitchFamily="2" charset="0"/>
              <a:cs typeface="Roboto" panose="02000000000000000000" pitchFamily="2" charset="0"/>
            </a:endParaRPr>
          </a:p>
          <a:p>
            <a:r>
              <a:rPr lang="en-IN" sz="1200" b="1" dirty="0">
                <a:latin typeface="Roboto" panose="02000000000000000000" pitchFamily="2" charset="0"/>
                <a:ea typeface="Roboto" panose="02000000000000000000" pitchFamily="2" charset="0"/>
                <a:cs typeface="Roboto" panose="02000000000000000000" pitchFamily="2" charset="0"/>
              </a:rPr>
              <a:t>Key Callouts</a:t>
            </a:r>
            <a:endParaRPr lang="en-IN" sz="1200" dirty="0">
              <a:latin typeface="Roboto" panose="02000000000000000000" pitchFamily="2"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IN" sz="1200" dirty="0">
                <a:latin typeface="Roboto" panose="02000000000000000000" pitchFamily="2" charset="0"/>
                <a:ea typeface="Roboto" panose="02000000000000000000" pitchFamily="2" charset="0"/>
                <a:cs typeface="Roboto" panose="02000000000000000000" pitchFamily="2" charset="0"/>
              </a:rPr>
              <a:t>Mainstream customers generated the highest revenue. </a:t>
            </a:r>
          </a:p>
          <a:p>
            <a:pPr marL="171450" indent="-171450">
              <a:buFont typeface="Arial" panose="020B0604020202020204" pitchFamily="34" charset="0"/>
              <a:buChar char="•"/>
            </a:pPr>
            <a:r>
              <a:rPr lang="en-IN" sz="1200" dirty="0">
                <a:latin typeface="Roboto" panose="02000000000000000000" pitchFamily="2" charset="0"/>
                <a:ea typeface="Roboto" panose="02000000000000000000" pitchFamily="2" charset="0"/>
                <a:cs typeface="Roboto" panose="02000000000000000000" pitchFamily="2" charset="0"/>
              </a:rPr>
              <a:t>Premium Retirees had the highest spend per transaction. </a:t>
            </a:r>
          </a:p>
          <a:p>
            <a:pPr marL="171450" indent="-171450">
              <a:buFont typeface="Arial" panose="020B0604020202020204" pitchFamily="34" charset="0"/>
              <a:buChar char="•"/>
            </a:pPr>
            <a:r>
              <a:rPr lang="en-IN" sz="1200" dirty="0">
                <a:latin typeface="Roboto" panose="02000000000000000000" pitchFamily="2" charset="0"/>
                <a:ea typeface="Roboto" panose="02000000000000000000" pitchFamily="2" charset="0"/>
                <a:cs typeface="Roboto" panose="02000000000000000000" pitchFamily="2" charset="0"/>
              </a:rPr>
              <a:t>Kettle was the top-performing brand. </a:t>
            </a:r>
          </a:p>
          <a:p>
            <a:pPr marL="171450" indent="-171450">
              <a:buFont typeface="Arial" panose="020B0604020202020204" pitchFamily="34" charset="0"/>
              <a:buChar char="•"/>
            </a:pPr>
            <a:r>
              <a:rPr lang="en-IN" sz="1200" dirty="0">
                <a:latin typeface="Roboto" panose="02000000000000000000" pitchFamily="2" charset="0"/>
                <a:ea typeface="Roboto" panose="02000000000000000000" pitchFamily="2" charset="0"/>
                <a:cs typeface="Roboto" panose="02000000000000000000" pitchFamily="2" charset="0"/>
              </a:rPr>
              <a:t>175g was the most popular pack size. </a:t>
            </a: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r>
              <a:rPr lang="en-IN" sz="1200" b="1" dirty="0">
                <a:latin typeface="Roboto" panose="02000000000000000000" pitchFamily="2" charset="0"/>
                <a:ea typeface="Roboto" panose="02000000000000000000" pitchFamily="2" charset="0"/>
                <a:cs typeface="Roboto" panose="02000000000000000000" pitchFamily="2" charset="0"/>
              </a:rPr>
              <a:t>High-Level Finding</a:t>
            </a:r>
          </a:p>
          <a:p>
            <a:r>
              <a:rPr lang="en-IN" sz="1200" dirty="0">
                <a:latin typeface="Roboto" panose="02000000000000000000" pitchFamily="2" charset="0"/>
                <a:ea typeface="Roboto" panose="02000000000000000000" pitchFamily="2" charset="0"/>
                <a:cs typeface="Roboto" panose="02000000000000000000" pitchFamily="2" charset="0"/>
              </a:rPr>
              <a:t>The new store layout successfully increased sales and customer purchases.</a:t>
            </a:r>
          </a:p>
          <a:p>
            <a:endParaRPr lang="en-IN" sz="1200" dirty="0">
              <a:latin typeface="Roboto" panose="02000000000000000000" pitchFamily="2" charset="0"/>
              <a:ea typeface="Roboto" panose="02000000000000000000" pitchFamily="2" charset="0"/>
              <a:cs typeface="Roboto" panose="02000000000000000000" pitchFamily="2" charset="0"/>
            </a:endParaRPr>
          </a:p>
          <a:p>
            <a:r>
              <a:rPr lang="en-IN" sz="1200" b="1" dirty="0">
                <a:latin typeface="Roboto" panose="02000000000000000000" pitchFamily="2" charset="0"/>
                <a:ea typeface="Roboto" panose="02000000000000000000" pitchFamily="2" charset="0"/>
                <a:cs typeface="Roboto" panose="02000000000000000000" pitchFamily="2" charset="0"/>
              </a:rPr>
              <a:t>Key Callouts</a:t>
            </a:r>
            <a:endParaRPr lang="en-IN" sz="1200" dirty="0">
              <a:latin typeface="Roboto" panose="02000000000000000000" pitchFamily="2" charset="0"/>
              <a:ea typeface="Roboto" panose="02000000000000000000" pitchFamily="2" charset="0"/>
              <a:cs typeface="Roboto" panose="02000000000000000000" pitchFamily="2" charset="0"/>
            </a:endParaRPr>
          </a:p>
          <a:p>
            <a:r>
              <a:rPr lang="en-IN" sz="1200" dirty="0">
                <a:latin typeface="Roboto" panose="02000000000000000000" pitchFamily="2" charset="0"/>
                <a:ea typeface="Roboto" panose="02000000000000000000" pitchFamily="2" charset="0"/>
                <a:cs typeface="Roboto" panose="02000000000000000000" pitchFamily="2" charset="0"/>
              </a:rPr>
              <a:t>Store 77 achieved </a:t>
            </a:r>
            <a:r>
              <a:rPr lang="en-IN" sz="1200" b="1" dirty="0">
                <a:latin typeface="Roboto" panose="02000000000000000000" pitchFamily="2" charset="0"/>
                <a:ea typeface="Roboto" panose="02000000000000000000" pitchFamily="2" charset="0"/>
                <a:cs typeface="Roboto" panose="02000000000000000000" pitchFamily="2" charset="0"/>
              </a:rPr>
              <a:t>29.13%</a:t>
            </a:r>
            <a:r>
              <a:rPr lang="en-IN" sz="1200" dirty="0">
                <a:latin typeface="Roboto" panose="02000000000000000000" pitchFamily="2" charset="0"/>
                <a:ea typeface="Roboto" panose="02000000000000000000" pitchFamily="2" charset="0"/>
                <a:cs typeface="Roboto" panose="02000000000000000000" pitchFamily="2" charset="0"/>
              </a:rPr>
              <a:t> sales uplift. </a:t>
            </a:r>
          </a:p>
          <a:p>
            <a:r>
              <a:rPr lang="en-IN" sz="1200" dirty="0">
                <a:latin typeface="Roboto" panose="02000000000000000000" pitchFamily="2" charset="0"/>
                <a:ea typeface="Roboto" panose="02000000000000000000" pitchFamily="2" charset="0"/>
                <a:cs typeface="Roboto" panose="02000000000000000000" pitchFamily="2" charset="0"/>
              </a:rPr>
              <a:t>Store 88 achieved </a:t>
            </a:r>
            <a:r>
              <a:rPr lang="en-IN" sz="1200" b="1" dirty="0">
                <a:latin typeface="Roboto" panose="02000000000000000000" pitchFamily="2" charset="0"/>
                <a:ea typeface="Roboto" panose="02000000000000000000" pitchFamily="2" charset="0"/>
                <a:cs typeface="Roboto" panose="02000000000000000000" pitchFamily="2" charset="0"/>
              </a:rPr>
              <a:t>29.13%</a:t>
            </a:r>
            <a:r>
              <a:rPr lang="en-IN" sz="1200" dirty="0">
                <a:latin typeface="Roboto" panose="02000000000000000000" pitchFamily="2" charset="0"/>
                <a:ea typeface="Roboto" panose="02000000000000000000" pitchFamily="2" charset="0"/>
                <a:cs typeface="Roboto" panose="02000000000000000000" pitchFamily="2" charset="0"/>
              </a:rPr>
              <a:t> sales uplift. </a:t>
            </a:r>
          </a:p>
          <a:p>
            <a:r>
              <a:rPr lang="en-IN" sz="1200" dirty="0">
                <a:latin typeface="Roboto" panose="02000000000000000000" pitchFamily="2" charset="0"/>
                <a:ea typeface="Roboto" panose="02000000000000000000" pitchFamily="2" charset="0"/>
                <a:cs typeface="Roboto" panose="02000000000000000000" pitchFamily="2" charset="0"/>
              </a:rPr>
              <a:t>Store 86 achieved </a:t>
            </a:r>
            <a:r>
              <a:rPr lang="en-IN" sz="1200" b="1" dirty="0">
                <a:latin typeface="Roboto" panose="02000000000000000000" pitchFamily="2" charset="0"/>
                <a:ea typeface="Roboto" panose="02000000000000000000" pitchFamily="2" charset="0"/>
                <a:cs typeface="Roboto" panose="02000000000000000000" pitchFamily="2" charset="0"/>
              </a:rPr>
              <a:t>9.76%</a:t>
            </a:r>
            <a:r>
              <a:rPr lang="en-IN" sz="1200" dirty="0">
                <a:latin typeface="Roboto" panose="02000000000000000000" pitchFamily="2" charset="0"/>
                <a:ea typeface="Roboto" panose="02000000000000000000" pitchFamily="2" charset="0"/>
                <a:cs typeface="Roboto" panose="02000000000000000000" pitchFamily="2" charset="0"/>
              </a:rPr>
              <a:t> sales uplift. </a:t>
            </a:r>
          </a:p>
          <a:p>
            <a:r>
              <a:rPr lang="en-IN" sz="1200" dirty="0">
                <a:latin typeface="Roboto" panose="02000000000000000000" pitchFamily="2" charset="0"/>
                <a:ea typeface="Roboto" panose="02000000000000000000" pitchFamily="2" charset="0"/>
                <a:cs typeface="Roboto" panose="02000000000000000000" pitchFamily="2" charset="0"/>
              </a:rPr>
              <a:t>Customer numbers increased across all trial stores.</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 </a:t>
            </a:r>
          </a:p>
        </p:txBody>
      </p:sp>
      <p:sp>
        <p:nvSpPr>
          <p:cNvPr id="2" name="TextBox 1">
            <a:extLst>
              <a:ext uri="{FF2B5EF4-FFF2-40B4-BE49-F238E27FC236}">
                <a16:creationId xmlns:a16="http://schemas.microsoft.com/office/drawing/2014/main" id="{4C3067AF-1F42-DD2A-F6C2-99A0C310D552}"/>
              </a:ext>
            </a:extLst>
          </p:cNvPr>
          <p:cNvSpPr txBox="1"/>
          <p:nvPr/>
        </p:nvSpPr>
        <p:spPr>
          <a:xfrm>
            <a:off x="2829560" y="400050"/>
            <a:ext cx="8630920" cy="971550"/>
          </a:xfrm>
          <a:prstGeom prst="rect">
            <a:avLst/>
          </a:prstGeom>
          <a:noFill/>
        </p:spPr>
        <p:txBody>
          <a:bodyPr wrap="square" lIns="0" tIns="0" rIns="0" bIns="0" rtlCol="0" anchor="t">
            <a:noAutofit/>
          </a:bodyPr>
          <a:lstStyle/>
          <a:p>
            <a:r>
              <a:rPr lang="en-IN" sz="2400" b="1" dirty="0">
                <a:ln>
                  <a:solidFill>
                    <a:schemeClr val="accent2">
                      <a:lumMod val="40000"/>
                      <a:lumOff val="60000"/>
                    </a:schemeClr>
                  </a:solidFill>
                </a:ln>
                <a:solidFill>
                  <a:schemeClr val="accent6">
                    <a:lumMod val="75000"/>
                  </a:schemeClr>
                </a:solidFill>
                <a:latin typeface="Roboto" panose="02000000000000000000" pitchFamily="2" charset="0"/>
                <a:ea typeface="Roboto" panose="02000000000000000000" pitchFamily="2" charset="0"/>
                <a:cs typeface="Roboto" panose="02000000000000000000" pitchFamily="2" charset="0"/>
              </a:rPr>
              <a:t>Mainstream customers, Kettle products, and 175g packs drive chip category performance.</a:t>
            </a:r>
          </a:p>
        </p:txBody>
      </p:sp>
      <p:graphicFrame>
        <p:nvGraphicFramePr>
          <p:cNvPr id="7" name="Table 6">
            <a:extLst>
              <a:ext uri="{FF2B5EF4-FFF2-40B4-BE49-F238E27FC236}">
                <a16:creationId xmlns:a16="http://schemas.microsoft.com/office/drawing/2014/main" id="{5D3AD7A9-5370-4999-AFCC-7C3CC5F43D77}"/>
              </a:ext>
            </a:extLst>
          </p:cNvPr>
          <p:cNvGraphicFramePr>
            <a:graphicFrameLocks noGrp="1"/>
          </p:cNvGraphicFramePr>
          <p:nvPr>
            <p:extLst>
              <p:ext uri="{D42A27DB-BD31-4B8C-83A1-F6EECF244321}">
                <p14:modId xmlns:p14="http://schemas.microsoft.com/office/powerpoint/2010/main" val="1808176035"/>
              </p:ext>
            </p:extLst>
          </p:nvPr>
        </p:nvGraphicFramePr>
        <p:xfrm>
          <a:off x="3670300" y="3122612"/>
          <a:ext cx="6802120" cy="2397760"/>
        </p:xfrm>
        <a:graphic>
          <a:graphicData uri="http://schemas.openxmlformats.org/drawingml/2006/table">
            <a:tbl>
              <a:tblPr/>
              <a:tblGrid>
                <a:gridCol w="3401060">
                  <a:extLst>
                    <a:ext uri="{9D8B030D-6E8A-4147-A177-3AD203B41FA5}">
                      <a16:colId xmlns:a16="http://schemas.microsoft.com/office/drawing/2014/main" val="1871318213"/>
                    </a:ext>
                  </a:extLst>
                </a:gridCol>
                <a:gridCol w="3401060">
                  <a:extLst>
                    <a:ext uri="{9D8B030D-6E8A-4147-A177-3AD203B41FA5}">
                      <a16:colId xmlns:a16="http://schemas.microsoft.com/office/drawing/2014/main" val="3631460272"/>
                    </a:ext>
                  </a:extLst>
                </a:gridCol>
              </a:tblGrid>
              <a:tr h="479552">
                <a:tc>
                  <a:txBody>
                    <a:bodyPr/>
                    <a:lstStyle/>
                    <a:p>
                      <a:pPr>
                        <a:buNone/>
                      </a:pPr>
                      <a:r>
                        <a:rPr lang="en-IN" dirty="0"/>
                        <a:t>Metric</a:t>
                      </a:r>
                    </a:p>
                  </a:txBody>
                  <a:tcPr anchor="ctr">
                    <a:lnL>
                      <a:noFill/>
                    </a:lnL>
                    <a:lnR>
                      <a:noFill/>
                    </a:lnR>
                    <a:lnT>
                      <a:noFill/>
                    </a:lnT>
                    <a:lnB>
                      <a:noFill/>
                    </a:lnB>
                    <a:noFill/>
                  </a:tcPr>
                </a:tc>
                <a:tc>
                  <a:txBody>
                    <a:bodyPr/>
                    <a:lstStyle/>
                    <a:p>
                      <a:pPr>
                        <a:buNone/>
                      </a:pPr>
                      <a:r>
                        <a:rPr lang="en-IN"/>
                        <a:t>Finding</a:t>
                      </a:r>
                    </a:p>
                  </a:txBody>
                  <a:tcPr anchor="ctr">
                    <a:lnL>
                      <a:noFill/>
                    </a:lnL>
                    <a:lnR>
                      <a:noFill/>
                    </a:lnR>
                    <a:lnT>
                      <a:noFill/>
                    </a:lnT>
                    <a:lnB>
                      <a:noFill/>
                    </a:lnB>
                    <a:noFill/>
                  </a:tcPr>
                </a:tc>
                <a:extLst>
                  <a:ext uri="{0D108BD9-81ED-4DB2-BD59-A6C34878D82A}">
                    <a16:rowId xmlns:a16="http://schemas.microsoft.com/office/drawing/2014/main" val="3264524075"/>
                  </a:ext>
                </a:extLst>
              </a:tr>
              <a:tr h="479552">
                <a:tc>
                  <a:txBody>
                    <a:bodyPr/>
                    <a:lstStyle/>
                    <a:p>
                      <a:pPr>
                        <a:buNone/>
                      </a:pPr>
                      <a:r>
                        <a:rPr lang="en-IN" dirty="0"/>
                        <a:t>Top Customer Segment</a:t>
                      </a:r>
                    </a:p>
                  </a:txBody>
                  <a:tcPr anchor="ctr">
                    <a:lnL>
                      <a:noFill/>
                    </a:lnL>
                    <a:lnR>
                      <a:noFill/>
                    </a:lnR>
                    <a:lnT>
                      <a:noFill/>
                    </a:lnT>
                    <a:lnB>
                      <a:noFill/>
                    </a:lnB>
                    <a:noFill/>
                  </a:tcPr>
                </a:tc>
                <a:tc>
                  <a:txBody>
                    <a:bodyPr/>
                    <a:lstStyle/>
                    <a:p>
                      <a:pPr>
                        <a:buNone/>
                      </a:pPr>
                      <a:r>
                        <a:rPr lang="en-IN"/>
                        <a:t>Mainstream</a:t>
                      </a:r>
                    </a:p>
                  </a:txBody>
                  <a:tcPr anchor="ctr">
                    <a:lnL>
                      <a:noFill/>
                    </a:lnL>
                    <a:lnR>
                      <a:noFill/>
                    </a:lnR>
                    <a:lnT>
                      <a:noFill/>
                    </a:lnT>
                    <a:lnB>
                      <a:noFill/>
                    </a:lnB>
                    <a:noFill/>
                  </a:tcPr>
                </a:tc>
                <a:extLst>
                  <a:ext uri="{0D108BD9-81ED-4DB2-BD59-A6C34878D82A}">
                    <a16:rowId xmlns:a16="http://schemas.microsoft.com/office/drawing/2014/main" val="3198171328"/>
                  </a:ext>
                </a:extLst>
              </a:tr>
              <a:tr h="479552">
                <a:tc>
                  <a:txBody>
                    <a:bodyPr/>
                    <a:lstStyle/>
                    <a:p>
                      <a:pPr>
                        <a:buNone/>
                      </a:pPr>
                      <a:r>
                        <a:rPr lang="en-IN" dirty="0"/>
                        <a:t>Top Brand</a:t>
                      </a:r>
                    </a:p>
                  </a:txBody>
                  <a:tcPr anchor="ctr">
                    <a:lnL>
                      <a:noFill/>
                    </a:lnL>
                    <a:lnR>
                      <a:noFill/>
                    </a:lnR>
                    <a:lnT>
                      <a:noFill/>
                    </a:lnT>
                    <a:lnB>
                      <a:noFill/>
                    </a:lnB>
                    <a:noFill/>
                  </a:tcPr>
                </a:tc>
                <a:tc>
                  <a:txBody>
                    <a:bodyPr/>
                    <a:lstStyle/>
                    <a:p>
                      <a:pPr>
                        <a:buNone/>
                      </a:pPr>
                      <a:r>
                        <a:rPr lang="en-IN" dirty="0"/>
                        <a:t>Kettle</a:t>
                      </a:r>
                    </a:p>
                  </a:txBody>
                  <a:tcPr anchor="ctr">
                    <a:lnL>
                      <a:noFill/>
                    </a:lnL>
                    <a:lnR>
                      <a:noFill/>
                    </a:lnR>
                    <a:lnT>
                      <a:noFill/>
                    </a:lnT>
                    <a:lnB>
                      <a:noFill/>
                    </a:lnB>
                    <a:noFill/>
                  </a:tcPr>
                </a:tc>
                <a:extLst>
                  <a:ext uri="{0D108BD9-81ED-4DB2-BD59-A6C34878D82A}">
                    <a16:rowId xmlns:a16="http://schemas.microsoft.com/office/drawing/2014/main" val="4242725238"/>
                  </a:ext>
                </a:extLst>
              </a:tr>
              <a:tr h="479552">
                <a:tc>
                  <a:txBody>
                    <a:bodyPr/>
                    <a:lstStyle/>
                    <a:p>
                      <a:pPr>
                        <a:buNone/>
                      </a:pPr>
                      <a:r>
                        <a:rPr lang="en-IN"/>
                        <a:t>Top Pack Size</a:t>
                      </a:r>
                    </a:p>
                  </a:txBody>
                  <a:tcPr anchor="ctr">
                    <a:lnL>
                      <a:noFill/>
                    </a:lnL>
                    <a:lnR>
                      <a:noFill/>
                    </a:lnR>
                    <a:lnT>
                      <a:noFill/>
                    </a:lnT>
                    <a:lnB>
                      <a:noFill/>
                    </a:lnB>
                    <a:noFill/>
                  </a:tcPr>
                </a:tc>
                <a:tc>
                  <a:txBody>
                    <a:bodyPr/>
                    <a:lstStyle/>
                    <a:p>
                      <a:pPr>
                        <a:buNone/>
                      </a:pPr>
                      <a:r>
                        <a:rPr lang="en-IN"/>
                        <a:t>175g</a:t>
                      </a:r>
                    </a:p>
                  </a:txBody>
                  <a:tcPr anchor="ctr">
                    <a:lnL>
                      <a:noFill/>
                    </a:lnL>
                    <a:lnR>
                      <a:noFill/>
                    </a:lnR>
                    <a:lnT>
                      <a:noFill/>
                    </a:lnT>
                    <a:lnB>
                      <a:noFill/>
                    </a:lnB>
                    <a:noFill/>
                  </a:tcPr>
                </a:tc>
                <a:extLst>
                  <a:ext uri="{0D108BD9-81ED-4DB2-BD59-A6C34878D82A}">
                    <a16:rowId xmlns:a16="http://schemas.microsoft.com/office/drawing/2014/main" val="1972738792"/>
                  </a:ext>
                </a:extLst>
              </a:tr>
              <a:tr h="479552">
                <a:tc>
                  <a:txBody>
                    <a:bodyPr/>
                    <a:lstStyle/>
                    <a:p>
                      <a:pPr>
                        <a:buNone/>
                      </a:pPr>
                      <a:r>
                        <a:rPr lang="en-IN"/>
                        <a:t>Revenue Driver</a:t>
                      </a:r>
                    </a:p>
                  </a:txBody>
                  <a:tcPr anchor="ctr">
                    <a:lnL>
                      <a:noFill/>
                    </a:lnL>
                    <a:lnR>
                      <a:noFill/>
                    </a:lnR>
                    <a:lnT>
                      <a:noFill/>
                    </a:lnT>
                    <a:lnB>
                      <a:noFill/>
                    </a:lnB>
                    <a:noFill/>
                  </a:tcPr>
                </a:tc>
                <a:tc>
                  <a:txBody>
                    <a:bodyPr/>
                    <a:lstStyle/>
                    <a:p>
                      <a:pPr>
                        <a:buNone/>
                      </a:pPr>
                      <a:r>
                        <a:rPr lang="en-IN" dirty="0"/>
                        <a:t>Mainstream Customers</a:t>
                      </a:r>
                    </a:p>
                  </a:txBody>
                  <a:tcPr anchor="ctr">
                    <a:lnL>
                      <a:noFill/>
                    </a:lnL>
                    <a:lnR>
                      <a:noFill/>
                    </a:lnR>
                    <a:lnT>
                      <a:noFill/>
                    </a:lnT>
                    <a:lnB>
                      <a:noFill/>
                    </a:lnB>
                    <a:noFill/>
                  </a:tcPr>
                </a:tc>
                <a:extLst>
                  <a:ext uri="{0D108BD9-81ED-4DB2-BD59-A6C34878D82A}">
                    <a16:rowId xmlns:a16="http://schemas.microsoft.com/office/drawing/2014/main" val="1172826793"/>
                  </a:ext>
                </a:extLst>
              </a:tr>
            </a:tbl>
          </a:graphicData>
        </a:graphic>
      </p:graphicFrame>
      <p:sp>
        <p:nvSpPr>
          <p:cNvPr id="9" name="Rectangle 8">
            <a:extLst>
              <a:ext uri="{FF2B5EF4-FFF2-40B4-BE49-F238E27FC236}">
                <a16:creationId xmlns:a16="http://schemas.microsoft.com/office/drawing/2014/main" id="{6E6269CF-3F93-4C49-D549-8B18C37E0F00}"/>
              </a:ext>
            </a:extLst>
          </p:cNvPr>
          <p:cNvSpPr/>
          <p:nvPr/>
        </p:nvSpPr>
        <p:spPr>
          <a:xfrm>
            <a:off x="3467100" y="3037840"/>
            <a:ext cx="7523162" cy="2702560"/>
          </a:xfrm>
          <a:prstGeom prst="rect">
            <a:avLst/>
          </a:prstGeom>
          <a:solidFill>
            <a:srgbClr val="ECE8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err="1">
              <a:solidFill>
                <a:srgbClr val="000005"/>
              </a:solidFill>
              <a:latin typeface="Roboto Light" panose="02000000000000000000" pitchFamily="2" charset="0"/>
              <a:ea typeface="Roboto Light" panose="02000000000000000000" pitchFamily="2" charset="0"/>
            </a:endParaRPr>
          </a:p>
        </p:txBody>
      </p:sp>
      <p:graphicFrame>
        <p:nvGraphicFramePr>
          <p:cNvPr id="10" name="Table 9">
            <a:extLst>
              <a:ext uri="{FF2B5EF4-FFF2-40B4-BE49-F238E27FC236}">
                <a16:creationId xmlns:a16="http://schemas.microsoft.com/office/drawing/2014/main" id="{20BA7A63-8053-15FB-6EAF-AF1471512C4D}"/>
              </a:ext>
            </a:extLst>
          </p:cNvPr>
          <p:cNvGraphicFramePr>
            <a:graphicFrameLocks noGrp="1"/>
          </p:cNvGraphicFramePr>
          <p:nvPr>
            <p:extLst>
              <p:ext uri="{D42A27DB-BD31-4B8C-83A1-F6EECF244321}">
                <p14:modId xmlns:p14="http://schemas.microsoft.com/office/powerpoint/2010/main" val="104045689"/>
              </p:ext>
            </p:extLst>
          </p:nvPr>
        </p:nvGraphicFramePr>
        <p:xfrm>
          <a:off x="3467100" y="3037840"/>
          <a:ext cx="7523162" cy="2761774"/>
        </p:xfrm>
        <a:graphic>
          <a:graphicData uri="http://schemas.openxmlformats.org/drawingml/2006/table">
            <a:tbl>
              <a:tblPr>
                <a:tableStyleId>{3C2FFA5D-87B4-456A-9821-1D502468CF0F}</a:tableStyleId>
              </a:tblPr>
              <a:tblGrid>
                <a:gridCol w="2727589">
                  <a:extLst>
                    <a:ext uri="{9D8B030D-6E8A-4147-A177-3AD203B41FA5}">
                      <a16:colId xmlns:a16="http://schemas.microsoft.com/office/drawing/2014/main" val="1404699901"/>
                    </a:ext>
                  </a:extLst>
                </a:gridCol>
                <a:gridCol w="4795573">
                  <a:extLst>
                    <a:ext uri="{9D8B030D-6E8A-4147-A177-3AD203B41FA5}">
                      <a16:colId xmlns:a16="http://schemas.microsoft.com/office/drawing/2014/main" val="23209426"/>
                    </a:ext>
                  </a:extLst>
                </a:gridCol>
              </a:tblGrid>
              <a:tr h="403454">
                <a:tc>
                  <a:txBody>
                    <a:bodyPr/>
                    <a:lstStyle/>
                    <a:p>
                      <a:pPr>
                        <a:buNone/>
                      </a:pPr>
                      <a:r>
                        <a:rPr lang="en-IN" dirty="0"/>
                        <a:t>Metric</a:t>
                      </a:r>
                    </a:p>
                  </a:txBody>
                  <a:tcPr anchor="ctr"/>
                </a:tc>
                <a:tc>
                  <a:txBody>
                    <a:bodyPr/>
                    <a:lstStyle/>
                    <a:p>
                      <a:pPr>
                        <a:buNone/>
                      </a:pPr>
                      <a:r>
                        <a:rPr lang="en-IN"/>
                        <a:t>Finding</a:t>
                      </a:r>
                    </a:p>
                  </a:txBody>
                  <a:tcPr anchor="ctr"/>
                </a:tc>
                <a:extLst>
                  <a:ext uri="{0D108BD9-81ED-4DB2-BD59-A6C34878D82A}">
                    <a16:rowId xmlns:a16="http://schemas.microsoft.com/office/drawing/2014/main" val="400001085"/>
                  </a:ext>
                </a:extLst>
              </a:tr>
              <a:tr h="589580">
                <a:tc>
                  <a:txBody>
                    <a:bodyPr/>
                    <a:lstStyle/>
                    <a:p>
                      <a:pPr>
                        <a:buNone/>
                      </a:pPr>
                      <a:r>
                        <a:rPr lang="en-IN" dirty="0"/>
                        <a:t>Top Customer Segment</a:t>
                      </a:r>
                    </a:p>
                  </a:txBody>
                  <a:tcPr anchor="ctr"/>
                </a:tc>
                <a:tc>
                  <a:txBody>
                    <a:bodyPr/>
                    <a:lstStyle/>
                    <a:p>
                      <a:pPr>
                        <a:buNone/>
                      </a:pPr>
                      <a:r>
                        <a:rPr lang="en-IN" dirty="0"/>
                        <a:t>Mainstream</a:t>
                      </a:r>
                    </a:p>
                  </a:txBody>
                  <a:tcPr anchor="ctr"/>
                </a:tc>
                <a:extLst>
                  <a:ext uri="{0D108BD9-81ED-4DB2-BD59-A6C34878D82A}">
                    <a16:rowId xmlns:a16="http://schemas.microsoft.com/office/drawing/2014/main" val="2441138207"/>
                  </a:ext>
                </a:extLst>
              </a:tr>
              <a:tr h="589580">
                <a:tc>
                  <a:txBody>
                    <a:bodyPr/>
                    <a:lstStyle/>
                    <a:p>
                      <a:pPr>
                        <a:buNone/>
                      </a:pPr>
                      <a:r>
                        <a:rPr lang="en-IN"/>
                        <a:t>Top Brand</a:t>
                      </a:r>
                    </a:p>
                  </a:txBody>
                  <a:tcPr anchor="ctr"/>
                </a:tc>
                <a:tc>
                  <a:txBody>
                    <a:bodyPr/>
                    <a:lstStyle/>
                    <a:p>
                      <a:pPr>
                        <a:buNone/>
                      </a:pPr>
                      <a:r>
                        <a:rPr lang="en-IN" dirty="0"/>
                        <a:t>Kettle</a:t>
                      </a:r>
                    </a:p>
                  </a:txBody>
                  <a:tcPr anchor="ctr"/>
                </a:tc>
                <a:extLst>
                  <a:ext uri="{0D108BD9-81ED-4DB2-BD59-A6C34878D82A}">
                    <a16:rowId xmlns:a16="http://schemas.microsoft.com/office/drawing/2014/main" val="297442673"/>
                  </a:ext>
                </a:extLst>
              </a:tr>
              <a:tr h="589580">
                <a:tc>
                  <a:txBody>
                    <a:bodyPr/>
                    <a:lstStyle/>
                    <a:p>
                      <a:pPr>
                        <a:buNone/>
                      </a:pPr>
                      <a:r>
                        <a:rPr lang="en-IN"/>
                        <a:t>Top Pack Size</a:t>
                      </a:r>
                    </a:p>
                  </a:txBody>
                  <a:tcPr anchor="ctr"/>
                </a:tc>
                <a:tc>
                  <a:txBody>
                    <a:bodyPr/>
                    <a:lstStyle/>
                    <a:p>
                      <a:pPr>
                        <a:buNone/>
                      </a:pPr>
                      <a:r>
                        <a:rPr lang="en-IN"/>
                        <a:t>175g</a:t>
                      </a:r>
                    </a:p>
                  </a:txBody>
                  <a:tcPr anchor="ctr"/>
                </a:tc>
                <a:extLst>
                  <a:ext uri="{0D108BD9-81ED-4DB2-BD59-A6C34878D82A}">
                    <a16:rowId xmlns:a16="http://schemas.microsoft.com/office/drawing/2014/main" val="1328072502"/>
                  </a:ext>
                </a:extLst>
              </a:tr>
              <a:tr h="589580">
                <a:tc>
                  <a:txBody>
                    <a:bodyPr/>
                    <a:lstStyle/>
                    <a:p>
                      <a:pPr>
                        <a:buNone/>
                      </a:pPr>
                      <a:r>
                        <a:rPr lang="en-IN"/>
                        <a:t>Revenue Driver</a:t>
                      </a:r>
                    </a:p>
                  </a:txBody>
                  <a:tcPr anchor="ctr"/>
                </a:tc>
                <a:tc>
                  <a:txBody>
                    <a:bodyPr/>
                    <a:lstStyle/>
                    <a:p>
                      <a:pPr>
                        <a:buNone/>
                      </a:pPr>
                      <a:r>
                        <a:rPr lang="en-IN" dirty="0"/>
                        <a:t>Mainstream Customers</a:t>
                      </a:r>
                    </a:p>
                  </a:txBody>
                  <a:tcPr anchor="ctr"/>
                </a:tc>
                <a:extLst>
                  <a:ext uri="{0D108BD9-81ED-4DB2-BD59-A6C34878D82A}">
                    <a16:rowId xmlns:a16="http://schemas.microsoft.com/office/drawing/2014/main" val="2456997874"/>
                  </a:ext>
                </a:extLst>
              </a:tr>
            </a:tbl>
          </a:graphicData>
        </a:graphic>
      </p:graphicFrame>
      <p:sp>
        <p:nvSpPr>
          <p:cNvPr id="11" name="Rectangle 10">
            <a:extLst>
              <a:ext uri="{FF2B5EF4-FFF2-40B4-BE49-F238E27FC236}">
                <a16:creationId xmlns:a16="http://schemas.microsoft.com/office/drawing/2014/main" id="{C3739FC4-AA78-8B90-56D3-7E6C5B7BA13E}"/>
              </a:ext>
            </a:extLst>
          </p:cNvPr>
          <p:cNvSpPr/>
          <p:nvPr/>
        </p:nvSpPr>
        <p:spPr>
          <a:xfrm>
            <a:off x="4643120" y="1463040"/>
            <a:ext cx="914400" cy="914400"/>
          </a:xfrm>
          <a:prstGeom prst="rect">
            <a:avLst/>
          </a:prstGeom>
          <a:solidFill>
            <a:srgbClr val="ECE8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err="1">
              <a:solidFill>
                <a:srgbClr val="000005"/>
              </a:solidFill>
              <a:latin typeface="Roboto Light" panose="02000000000000000000" pitchFamily="2" charset="0"/>
              <a:ea typeface="Roboto Light" panose="02000000000000000000" pitchFamily="2" charset="0"/>
            </a:endParaRPr>
          </a:p>
        </p:txBody>
      </p:sp>
      <p:sp>
        <p:nvSpPr>
          <p:cNvPr id="13" name="TextBox 12">
            <a:extLst>
              <a:ext uri="{FF2B5EF4-FFF2-40B4-BE49-F238E27FC236}">
                <a16:creationId xmlns:a16="http://schemas.microsoft.com/office/drawing/2014/main" id="{71B5B33E-D8FF-AB4B-BB52-E2804AE786D9}"/>
              </a:ext>
            </a:extLst>
          </p:cNvPr>
          <p:cNvSpPr txBox="1"/>
          <p:nvPr/>
        </p:nvSpPr>
        <p:spPr>
          <a:xfrm>
            <a:off x="1826260" y="5884386"/>
            <a:ext cx="9784080" cy="221774"/>
          </a:xfrm>
          <a:prstGeom prst="rect">
            <a:avLst/>
          </a:prstGeom>
          <a:noFill/>
        </p:spPr>
        <p:txBody>
          <a:bodyPr wrap="square" lIns="0" tIns="0" rIns="0" bIns="0" rtlCol="0" anchor="t">
            <a:noAutofit/>
          </a:bodyPr>
          <a:lstStyle/>
          <a:p>
            <a:r>
              <a:rPr lang="en-IN" sz="1200" dirty="0">
                <a:latin typeface="Roboto" panose="02000000000000000000" pitchFamily="2" charset="0"/>
                <a:ea typeface="Roboto" panose="02000000000000000000" pitchFamily="2" charset="0"/>
                <a:cs typeface="Roboto" panose="02000000000000000000" pitchFamily="2" charset="0"/>
              </a:rPr>
              <a:t>Callout : The chip category is primarily driven by Mainstream customers who show strong preference for Kettle products and 175g pack sizes.</a:t>
            </a:r>
          </a:p>
          <a:p>
            <a:pPr algn="l"/>
            <a:endParaRPr lang="en-IN" sz="1200" dirty="0" err="1">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dirty="0"/>
              <a:t>OVERVIEW: KEY CALLOUTS FOR THE CATEGORY</a:t>
            </a:r>
            <a:endParaRPr lang="en-AU" dirty="0"/>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
        <p:nvSpPr>
          <p:cNvPr id="3" name="TextBox 2">
            <a:extLst>
              <a:ext uri="{FF2B5EF4-FFF2-40B4-BE49-F238E27FC236}">
                <a16:creationId xmlns:a16="http://schemas.microsoft.com/office/drawing/2014/main" id="{FA7E0034-1064-F74C-33EA-6DDAFF624584}"/>
              </a:ext>
            </a:extLst>
          </p:cNvPr>
          <p:cNvSpPr txBox="1"/>
          <p:nvPr/>
        </p:nvSpPr>
        <p:spPr>
          <a:xfrm>
            <a:off x="1107440" y="865571"/>
            <a:ext cx="11013440" cy="369332"/>
          </a:xfrm>
          <a:prstGeom prst="rect">
            <a:avLst/>
          </a:prstGeom>
          <a:noFill/>
        </p:spPr>
        <p:txBody>
          <a:bodyPr wrap="square">
            <a:spAutoFit/>
          </a:bodyPr>
          <a:lstStyle/>
          <a:p>
            <a:r>
              <a:rPr lang="en-IN" dirty="0"/>
              <a:t>Mainstream customers, Kettle products and 175g packs are the key drivers of category performance.</a:t>
            </a:r>
          </a:p>
        </p:txBody>
      </p:sp>
      <p:sp>
        <p:nvSpPr>
          <p:cNvPr id="5" name="Rectangle 4">
            <a:extLst>
              <a:ext uri="{FF2B5EF4-FFF2-40B4-BE49-F238E27FC236}">
                <a16:creationId xmlns:a16="http://schemas.microsoft.com/office/drawing/2014/main" id="{E3F8C242-69FB-166B-A57E-095E4C1B5F74}"/>
              </a:ext>
            </a:extLst>
          </p:cNvPr>
          <p:cNvSpPr/>
          <p:nvPr/>
        </p:nvSpPr>
        <p:spPr>
          <a:xfrm>
            <a:off x="1524000" y="1639966"/>
            <a:ext cx="2814320" cy="1789034"/>
          </a:xfrm>
          <a:prstGeom prst="rect">
            <a:avLst/>
          </a:prstGeom>
          <a:solidFill>
            <a:schemeClr val="bg2">
              <a:lumMod val="90000"/>
            </a:schemeClr>
          </a:solidFill>
          <a:ln>
            <a:solidFill>
              <a:schemeClr val="bg2">
                <a:lumMod val="90000"/>
              </a:schemeClr>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dirty="0" err="1">
              <a:ln w="22225">
                <a:solidFill>
                  <a:schemeClr val="accent2"/>
                </a:solidFill>
                <a:prstDash val="solid"/>
              </a:ln>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2" name="Rectangle 11">
            <a:extLst>
              <a:ext uri="{FF2B5EF4-FFF2-40B4-BE49-F238E27FC236}">
                <a16:creationId xmlns:a16="http://schemas.microsoft.com/office/drawing/2014/main" id="{126A7AA2-6F96-A070-C278-9471F9ABBD7E}"/>
              </a:ext>
            </a:extLst>
          </p:cNvPr>
          <p:cNvSpPr/>
          <p:nvPr/>
        </p:nvSpPr>
        <p:spPr>
          <a:xfrm>
            <a:off x="5008880" y="1689971"/>
            <a:ext cx="2814320" cy="1789034"/>
          </a:xfrm>
          <a:prstGeom prst="rect">
            <a:avLst/>
          </a:prstGeom>
          <a:solidFill>
            <a:schemeClr val="bg2">
              <a:lumMod val="90000"/>
            </a:schemeClr>
          </a:solidFill>
          <a:ln>
            <a:solidFill>
              <a:schemeClr val="bg2">
                <a:lumMod val="90000"/>
              </a:schemeClr>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dirty="0"/>
          </a:p>
        </p:txBody>
      </p:sp>
      <p:sp>
        <p:nvSpPr>
          <p:cNvPr id="13" name="Rectangle 12">
            <a:extLst>
              <a:ext uri="{FF2B5EF4-FFF2-40B4-BE49-F238E27FC236}">
                <a16:creationId xmlns:a16="http://schemas.microsoft.com/office/drawing/2014/main" id="{A8A2195B-B582-F9CD-7650-F659FD1F13D2}"/>
              </a:ext>
            </a:extLst>
          </p:cNvPr>
          <p:cNvSpPr/>
          <p:nvPr/>
        </p:nvSpPr>
        <p:spPr>
          <a:xfrm>
            <a:off x="8549640" y="1689971"/>
            <a:ext cx="2814320" cy="1789034"/>
          </a:xfrm>
          <a:prstGeom prst="rect">
            <a:avLst/>
          </a:prstGeom>
          <a:solidFill>
            <a:schemeClr val="bg2">
              <a:lumMod val="90000"/>
            </a:schemeClr>
          </a:solidFill>
          <a:ln>
            <a:solidFill>
              <a:schemeClr val="bg2">
                <a:lumMod val="90000"/>
              </a:schemeClr>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dirty="0" err="1">
              <a:ln w="22225">
                <a:solidFill>
                  <a:schemeClr val="accent2"/>
                </a:solidFill>
                <a:prstDash val="solid"/>
              </a:ln>
              <a:solidFill>
                <a:schemeClr val="accent2">
                  <a:lumMod val="40000"/>
                  <a:lumOff val="60000"/>
                </a:schemeClr>
              </a:solidFill>
              <a:latin typeface="Roboto Light" panose="02000000000000000000" pitchFamily="2" charset="0"/>
              <a:ea typeface="Roboto Light" panose="02000000000000000000" pitchFamily="2" charset="0"/>
            </a:endParaRPr>
          </a:p>
        </p:txBody>
      </p:sp>
      <p:sp>
        <p:nvSpPr>
          <p:cNvPr id="14" name="Rectangle 13">
            <a:extLst>
              <a:ext uri="{FF2B5EF4-FFF2-40B4-BE49-F238E27FC236}">
                <a16:creationId xmlns:a16="http://schemas.microsoft.com/office/drawing/2014/main" id="{603565B6-4D62-D9E7-4766-FAAACCC643F0}"/>
              </a:ext>
            </a:extLst>
          </p:cNvPr>
          <p:cNvSpPr/>
          <p:nvPr/>
        </p:nvSpPr>
        <p:spPr>
          <a:xfrm>
            <a:off x="1524000" y="3915806"/>
            <a:ext cx="2814320" cy="1789034"/>
          </a:xfrm>
          <a:prstGeom prst="rect">
            <a:avLst/>
          </a:prstGeom>
          <a:solidFill>
            <a:schemeClr val="bg2">
              <a:lumMod val="90000"/>
            </a:schemeClr>
          </a:solidFill>
          <a:ln>
            <a:solidFill>
              <a:schemeClr val="bg2">
                <a:lumMod val="90000"/>
              </a:schemeClr>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dirty="0" err="1">
              <a:ln w="22225">
                <a:solidFill>
                  <a:schemeClr val="accent2"/>
                </a:solidFill>
                <a:prstDash val="solid"/>
              </a:ln>
              <a:solidFill>
                <a:schemeClr val="accent2">
                  <a:lumMod val="40000"/>
                  <a:lumOff val="60000"/>
                </a:schemeClr>
              </a:solidFill>
              <a:latin typeface="Roboto Light" panose="02000000000000000000" pitchFamily="2" charset="0"/>
              <a:ea typeface="Roboto Light" panose="02000000000000000000" pitchFamily="2" charset="0"/>
            </a:endParaRPr>
          </a:p>
        </p:txBody>
      </p:sp>
      <p:sp>
        <p:nvSpPr>
          <p:cNvPr id="15" name="Rectangle 14">
            <a:extLst>
              <a:ext uri="{FF2B5EF4-FFF2-40B4-BE49-F238E27FC236}">
                <a16:creationId xmlns:a16="http://schemas.microsoft.com/office/drawing/2014/main" id="{EE698C1E-F7FD-7EB3-6DE7-32C3F8C14B0E}"/>
              </a:ext>
            </a:extLst>
          </p:cNvPr>
          <p:cNvSpPr/>
          <p:nvPr/>
        </p:nvSpPr>
        <p:spPr>
          <a:xfrm>
            <a:off x="5029614" y="3891205"/>
            <a:ext cx="6334345" cy="1789034"/>
          </a:xfrm>
          <a:prstGeom prst="rect">
            <a:avLst/>
          </a:prstGeom>
          <a:solidFill>
            <a:schemeClr val="bg2">
              <a:lumMod val="90000"/>
            </a:schemeClr>
          </a:solidFill>
          <a:ln>
            <a:solidFill>
              <a:schemeClr val="bg2">
                <a:lumMod val="90000"/>
              </a:schemeClr>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dirty="0" err="1">
              <a:ln w="22225">
                <a:solidFill>
                  <a:schemeClr val="accent2"/>
                </a:solidFill>
                <a:prstDash val="solid"/>
              </a:ln>
              <a:solidFill>
                <a:schemeClr val="accent2">
                  <a:lumMod val="40000"/>
                  <a:lumOff val="60000"/>
                </a:schemeClr>
              </a:solidFill>
              <a:latin typeface="Roboto Light" panose="02000000000000000000" pitchFamily="2" charset="0"/>
              <a:ea typeface="Roboto Light" panose="02000000000000000000" pitchFamily="2" charset="0"/>
            </a:endParaRPr>
          </a:p>
        </p:txBody>
      </p:sp>
      <p:sp>
        <p:nvSpPr>
          <p:cNvPr id="16" name="TextBox 15">
            <a:extLst>
              <a:ext uri="{FF2B5EF4-FFF2-40B4-BE49-F238E27FC236}">
                <a16:creationId xmlns:a16="http://schemas.microsoft.com/office/drawing/2014/main" id="{B0CAF2BF-BF15-9994-9807-AA4AABA279EA}"/>
              </a:ext>
            </a:extLst>
          </p:cNvPr>
          <p:cNvSpPr txBox="1"/>
          <p:nvPr/>
        </p:nvSpPr>
        <p:spPr>
          <a:xfrm>
            <a:off x="1539241" y="1714973"/>
            <a:ext cx="2814320" cy="1739029"/>
          </a:xfrm>
          <a:prstGeom prst="rect">
            <a:avLst/>
          </a:prstGeom>
          <a:noFill/>
        </p:spPr>
        <p:txBody>
          <a:bodyPr wrap="square" lIns="0" tIns="0" rIns="0" bIns="0" rtlCol="0" anchor="t">
            <a:noAutofit/>
          </a:bodyPr>
          <a:lstStyle/>
          <a:p>
            <a:r>
              <a:rPr lang="en-IN" sz="1200" dirty="0"/>
              <a:t>                 </a:t>
            </a:r>
            <a:r>
              <a:rPr lang="en-IN" sz="1600" b="1" dirty="0">
                <a:latin typeface="Roboto" panose="02000000000000000000" pitchFamily="2" charset="0"/>
                <a:ea typeface="Roboto" panose="02000000000000000000" pitchFamily="2" charset="0"/>
                <a:cs typeface="Roboto" panose="02000000000000000000" pitchFamily="2" charset="0"/>
              </a:rPr>
              <a:t>Customer Segment</a:t>
            </a:r>
            <a:endParaRPr lang="en-US" sz="1600" b="1" dirty="0">
              <a:latin typeface="Roboto" panose="02000000000000000000" pitchFamily="2" charset="0"/>
              <a:ea typeface="Roboto" panose="02000000000000000000" pitchFamily="2" charset="0"/>
              <a:cs typeface="Roboto" panose="02000000000000000000" pitchFamily="2" charset="0"/>
            </a:endParaRPr>
          </a:p>
          <a:p>
            <a:endParaRPr lang="en-US" sz="1200" dirty="0">
              <a:latin typeface="Roboto Light" panose="02000000000000000000" pitchFamily="2" charset="0"/>
              <a:ea typeface="Roboto Light" panose="02000000000000000000" pitchFamily="2" charset="0"/>
            </a:endParaRPr>
          </a:p>
          <a:p>
            <a:pPr algn="ctr"/>
            <a:r>
              <a:rPr lang="en-IN" sz="1200" dirty="0">
                <a:latin typeface="Roboto" panose="02000000000000000000" pitchFamily="2" charset="0"/>
                <a:ea typeface="Roboto" panose="02000000000000000000" pitchFamily="2" charset="0"/>
                <a:cs typeface="Roboto" panose="02000000000000000000" pitchFamily="2" charset="0"/>
              </a:rPr>
              <a:t>Mainstream Customers </a:t>
            </a:r>
            <a:r>
              <a:rPr lang="en-US" sz="1200" dirty="0">
                <a:latin typeface="Roboto" panose="02000000000000000000" pitchFamily="2" charset="0"/>
                <a:ea typeface="Roboto" panose="02000000000000000000" pitchFamily="2" charset="0"/>
                <a:cs typeface="Roboto" panose="02000000000000000000" pitchFamily="2" charset="0"/>
              </a:rPr>
              <a:t>generated </a:t>
            </a:r>
          </a:p>
          <a:p>
            <a:pPr algn="ctr"/>
            <a:r>
              <a:rPr lang="en-US" sz="1200" dirty="0">
                <a:latin typeface="Roboto" panose="02000000000000000000" pitchFamily="2" charset="0"/>
                <a:ea typeface="Roboto" panose="02000000000000000000" pitchFamily="2" charset="0"/>
                <a:cs typeface="Roboto" panose="02000000000000000000" pitchFamily="2" charset="0"/>
              </a:rPr>
              <a:t>the highest category revenue,</a:t>
            </a:r>
          </a:p>
          <a:p>
            <a:pPr algn="ctr"/>
            <a:r>
              <a:rPr lang="en-US" sz="1200" dirty="0">
                <a:latin typeface="Roboto" panose="02000000000000000000" pitchFamily="2" charset="0"/>
                <a:ea typeface="Roboto" panose="02000000000000000000" pitchFamily="2" charset="0"/>
                <a:cs typeface="Roboto" panose="02000000000000000000" pitchFamily="2" charset="0"/>
              </a:rPr>
              <a:t> making them the most valuable customer segment.</a:t>
            </a:r>
            <a:endParaRPr lang="en-IN" sz="1200" dirty="0" err="1">
              <a:latin typeface="Roboto" panose="02000000000000000000" pitchFamily="2" charset="0"/>
              <a:ea typeface="Roboto" panose="02000000000000000000" pitchFamily="2" charset="0"/>
              <a:cs typeface="Roboto" panose="02000000000000000000" pitchFamily="2" charset="0"/>
            </a:endParaRPr>
          </a:p>
        </p:txBody>
      </p:sp>
      <p:sp>
        <p:nvSpPr>
          <p:cNvPr id="17" name="TextBox 16">
            <a:extLst>
              <a:ext uri="{FF2B5EF4-FFF2-40B4-BE49-F238E27FC236}">
                <a16:creationId xmlns:a16="http://schemas.microsoft.com/office/drawing/2014/main" id="{2B71D0D6-DDBE-9C26-EEFD-AB0DD6C79C8E}"/>
              </a:ext>
            </a:extLst>
          </p:cNvPr>
          <p:cNvSpPr txBox="1"/>
          <p:nvPr/>
        </p:nvSpPr>
        <p:spPr>
          <a:xfrm>
            <a:off x="4978398" y="1714973"/>
            <a:ext cx="2844802" cy="1789034"/>
          </a:xfrm>
          <a:prstGeom prst="rect">
            <a:avLst/>
          </a:prstGeom>
          <a:noFill/>
        </p:spPr>
        <p:txBody>
          <a:bodyPr wrap="square" lIns="0" tIns="0" rIns="0" bIns="0" rtlCol="0" anchor="t">
            <a:noAutofit/>
          </a:bodyPr>
          <a:lstStyle/>
          <a:p>
            <a:pPr algn="ctr"/>
            <a:r>
              <a:rPr lang="en-IN" sz="1600" b="1" dirty="0">
                <a:latin typeface="Roboto" panose="02000000000000000000" pitchFamily="2" charset="0"/>
                <a:ea typeface="Roboto" panose="02000000000000000000" pitchFamily="2" charset="0"/>
                <a:cs typeface="Roboto" panose="02000000000000000000" pitchFamily="2" charset="0"/>
              </a:rPr>
              <a:t>Spending Behaviour</a:t>
            </a:r>
          </a:p>
          <a:p>
            <a:pPr algn="ctr"/>
            <a:endParaRPr lang="en-IN" sz="1600" b="1" dirty="0">
              <a:latin typeface="Roboto" panose="02000000000000000000" pitchFamily="2" charset="0"/>
              <a:ea typeface="Roboto" panose="02000000000000000000" pitchFamily="2" charset="0"/>
              <a:cs typeface="Roboto" panose="02000000000000000000" pitchFamily="2" charset="0"/>
            </a:endParaRPr>
          </a:p>
          <a:p>
            <a:pPr algn="ctr"/>
            <a:r>
              <a:rPr lang="en-IN" sz="1200" dirty="0">
                <a:latin typeface="Roboto" panose="02000000000000000000" pitchFamily="2" charset="0"/>
                <a:ea typeface="Roboto" panose="02000000000000000000" pitchFamily="2" charset="0"/>
                <a:cs typeface="Roboto" panose="02000000000000000000" pitchFamily="2" charset="0"/>
              </a:rPr>
              <a:t>Premium Retirees </a:t>
            </a:r>
            <a:r>
              <a:rPr lang="en-US" sz="1200" dirty="0">
                <a:latin typeface="Roboto" panose="02000000000000000000" pitchFamily="2" charset="0"/>
                <a:ea typeface="Roboto" panose="02000000000000000000" pitchFamily="2" charset="0"/>
                <a:cs typeface="Roboto" panose="02000000000000000000" pitchFamily="2" charset="0"/>
              </a:rPr>
              <a:t>Recorded the</a:t>
            </a:r>
          </a:p>
          <a:p>
            <a:pPr algn="ctr"/>
            <a:r>
              <a:rPr lang="en-US" sz="1200" dirty="0">
                <a:latin typeface="Roboto" panose="02000000000000000000" pitchFamily="2" charset="0"/>
                <a:ea typeface="Roboto" panose="02000000000000000000" pitchFamily="2" charset="0"/>
                <a:cs typeface="Roboto" panose="02000000000000000000" pitchFamily="2" charset="0"/>
              </a:rPr>
              <a:t> highest average spend</a:t>
            </a:r>
          </a:p>
          <a:p>
            <a:pPr algn="ctr"/>
            <a:r>
              <a:rPr lang="en-US" sz="1200" dirty="0">
                <a:latin typeface="Roboto" panose="02000000000000000000" pitchFamily="2" charset="0"/>
                <a:ea typeface="Roboto" panose="02000000000000000000" pitchFamily="2" charset="0"/>
                <a:cs typeface="Roboto" panose="02000000000000000000" pitchFamily="2" charset="0"/>
              </a:rPr>
              <a:t>  per transaction, indicating premium purchasing </a:t>
            </a:r>
            <a:r>
              <a:rPr lang="en-US" sz="1200" dirty="0" err="1">
                <a:latin typeface="Roboto" panose="02000000000000000000" pitchFamily="2" charset="0"/>
                <a:ea typeface="Roboto" panose="02000000000000000000" pitchFamily="2" charset="0"/>
                <a:cs typeface="Roboto" panose="02000000000000000000" pitchFamily="2" charset="0"/>
              </a:rPr>
              <a:t>behaviour</a:t>
            </a:r>
            <a:r>
              <a:rPr lang="en-US" sz="1200" b="1" dirty="0">
                <a:latin typeface="Roboto" panose="02000000000000000000" pitchFamily="2" charset="0"/>
                <a:ea typeface="Roboto" panose="02000000000000000000" pitchFamily="2" charset="0"/>
                <a:cs typeface="Roboto" panose="02000000000000000000" pitchFamily="2" charset="0"/>
              </a:rPr>
              <a:t>.</a:t>
            </a:r>
            <a:endParaRPr lang="en-IN" sz="1200" b="1" dirty="0">
              <a:latin typeface="Roboto" panose="02000000000000000000" pitchFamily="2" charset="0"/>
              <a:ea typeface="Roboto" panose="02000000000000000000" pitchFamily="2" charset="0"/>
              <a:cs typeface="Roboto" panose="02000000000000000000" pitchFamily="2" charset="0"/>
            </a:endParaRPr>
          </a:p>
        </p:txBody>
      </p:sp>
      <p:sp>
        <p:nvSpPr>
          <p:cNvPr id="18" name="TextBox 17">
            <a:extLst>
              <a:ext uri="{FF2B5EF4-FFF2-40B4-BE49-F238E27FC236}">
                <a16:creationId xmlns:a16="http://schemas.microsoft.com/office/drawing/2014/main" id="{3821BB48-0E59-4CCA-0B24-FD14E7ADEFEA}"/>
              </a:ext>
            </a:extLst>
          </p:cNvPr>
          <p:cNvSpPr txBox="1"/>
          <p:nvPr/>
        </p:nvSpPr>
        <p:spPr>
          <a:xfrm>
            <a:off x="8549640" y="1788160"/>
            <a:ext cx="2844802" cy="1640840"/>
          </a:xfrm>
          <a:prstGeom prst="rect">
            <a:avLst/>
          </a:prstGeom>
          <a:noFill/>
        </p:spPr>
        <p:txBody>
          <a:bodyPr wrap="square" lIns="0" tIns="0" rIns="0" bIns="0" rtlCol="0" anchor="t">
            <a:noAutofit/>
          </a:bodyPr>
          <a:lstStyle/>
          <a:p>
            <a:pPr algn="ctr"/>
            <a:r>
              <a:rPr lang="en-IN" sz="1600" b="1" dirty="0">
                <a:latin typeface="Roboto" panose="02000000000000000000" pitchFamily="2" charset="0"/>
                <a:ea typeface="Roboto" panose="02000000000000000000" pitchFamily="2" charset="0"/>
                <a:cs typeface="Roboto" panose="02000000000000000000" pitchFamily="2" charset="0"/>
              </a:rPr>
              <a:t>Brand Performance</a:t>
            </a:r>
          </a:p>
          <a:p>
            <a:pPr algn="ctr"/>
            <a:endParaRPr lang="en-IN" sz="1600" b="1" dirty="0">
              <a:latin typeface="Roboto" panose="02000000000000000000" pitchFamily="2" charset="0"/>
              <a:ea typeface="Roboto" panose="02000000000000000000" pitchFamily="2" charset="0"/>
              <a:cs typeface="Roboto" panose="02000000000000000000" pitchFamily="2" charset="0"/>
            </a:endParaRPr>
          </a:p>
          <a:p>
            <a:pPr algn="ctr"/>
            <a:r>
              <a:rPr lang="en-US" sz="1200" dirty="0">
                <a:latin typeface="Roboto" panose="02000000000000000000" pitchFamily="2" charset="0"/>
                <a:ea typeface="Roboto" panose="02000000000000000000" pitchFamily="2" charset="0"/>
                <a:cs typeface="Roboto" panose="02000000000000000000" pitchFamily="2" charset="0"/>
              </a:rPr>
              <a:t>Top-performing brand with over</a:t>
            </a:r>
          </a:p>
          <a:p>
            <a:pPr algn="ctr"/>
            <a:r>
              <a:rPr lang="en-US" sz="1200" dirty="0">
                <a:latin typeface="Roboto" panose="02000000000000000000" pitchFamily="2" charset="0"/>
                <a:ea typeface="Roboto" panose="02000000000000000000" pitchFamily="2" charset="0"/>
                <a:cs typeface="Roboto" panose="02000000000000000000" pitchFamily="2" charset="0"/>
              </a:rPr>
              <a:t>$390K in sales revenue.</a:t>
            </a:r>
            <a:endParaRPr lang="en-IN" sz="1200" dirty="0">
              <a:latin typeface="Roboto" panose="02000000000000000000" pitchFamily="2" charset="0"/>
              <a:ea typeface="Roboto" panose="02000000000000000000" pitchFamily="2" charset="0"/>
              <a:cs typeface="Roboto" panose="02000000000000000000" pitchFamily="2" charset="0"/>
            </a:endParaRPr>
          </a:p>
        </p:txBody>
      </p:sp>
      <p:sp>
        <p:nvSpPr>
          <p:cNvPr id="19" name="TextBox 18">
            <a:extLst>
              <a:ext uri="{FF2B5EF4-FFF2-40B4-BE49-F238E27FC236}">
                <a16:creationId xmlns:a16="http://schemas.microsoft.com/office/drawing/2014/main" id="{813EBFEA-0946-9DF9-C942-C3F7ECE7B68F}"/>
              </a:ext>
            </a:extLst>
          </p:cNvPr>
          <p:cNvSpPr txBox="1"/>
          <p:nvPr/>
        </p:nvSpPr>
        <p:spPr>
          <a:xfrm>
            <a:off x="1539241" y="4020383"/>
            <a:ext cx="2814320" cy="1579880"/>
          </a:xfrm>
          <a:prstGeom prst="rect">
            <a:avLst/>
          </a:prstGeom>
          <a:noFill/>
        </p:spPr>
        <p:txBody>
          <a:bodyPr wrap="square" lIns="0" tIns="0" rIns="0" bIns="0" rtlCol="0" anchor="t">
            <a:noAutofit/>
          </a:bodyPr>
          <a:lstStyle/>
          <a:p>
            <a:pPr algn="ctr"/>
            <a:r>
              <a:rPr lang="en-IN" sz="1600" b="1" dirty="0">
                <a:latin typeface="Roboto" panose="02000000000000000000" pitchFamily="2" charset="0"/>
                <a:ea typeface="Roboto" panose="02000000000000000000" pitchFamily="2" charset="0"/>
                <a:cs typeface="Roboto" panose="02000000000000000000" pitchFamily="2" charset="0"/>
              </a:rPr>
              <a:t>Pack Size</a:t>
            </a:r>
          </a:p>
          <a:p>
            <a:pPr algn="ctr"/>
            <a:endParaRPr lang="en-IN" sz="1600" b="1" dirty="0">
              <a:latin typeface="Roboto" panose="02000000000000000000" pitchFamily="2" charset="0"/>
              <a:ea typeface="Roboto" panose="02000000000000000000" pitchFamily="2" charset="0"/>
              <a:cs typeface="Roboto" panose="02000000000000000000" pitchFamily="2" charset="0"/>
            </a:endParaRPr>
          </a:p>
          <a:p>
            <a:pPr algn="ctr"/>
            <a:r>
              <a:rPr lang="en-US" sz="1200" dirty="0">
                <a:latin typeface="Roboto" panose="02000000000000000000" pitchFamily="2" charset="0"/>
                <a:ea typeface="Roboto" panose="02000000000000000000" pitchFamily="2" charset="0"/>
                <a:cs typeface="Roboto" panose="02000000000000000000" pitchFamily="2" charset="0"/>
              </a:rPr>
              <a:t>Most popular pack size with over</a:t>
            </a:r>
          </a:p>
          <a:p>
            <a:pPr algn="ctr"/>
            <a:r>
              <a:rPr lang="en-US" sz="1200" dirty="0">
                <a:latin typeface="Roboto" panose="02000000000000000000" pitchFamily="2" charset="0"/>
                <a:ea typeface="Roboto" panose="02000000000000000000" pitchFamily="2" charset="0"/>
                <a:cs typeface="Roboto" panose="02000000000000000000" pitchFamily="2" charset="0"/>
              </a:rPr>
              <a:t>$485K in sales.</a:t>
            </a:r>
            <a:endParaRPr lang="en-IN" sz="1200" dirty="0">
              <a:latin typeface="Roboto" panose="02000000000000000000" pitchFamily="2" charset="0"/>
              <a:ea typeface="Roboto" panose="02000000000000000000" pitchFamily="2" charset="0"/>
              <a:cs typeface="Roboto" panose="02000000000000000000" pitchFamily="2" charset="0"/>
            </a:endParaRPr>
          </a:p>
        </p:txBody>
      </p:sp>
      <p:sp>
        <p:nvSpPr>
          <p:cNvPr id="20" name="TextBox 19">
            <a:extLst>
              <a:ext uri="{FF2B5EF4-FFF2-40B4-BE49-F238E27FC236}">
                <a16:creationId xmlns:a16="http://schemas.microsoft.com/office/drawing/2014/main" id="{7AD71FF5-D6EB-1795-A403-3016D44E2DCD}"/>
              </a:ext>
            </a:extLst>
          </p:cNvPr>
          <p:cNvSpPr txBox="1"/>
          <p:nvPr/>
        </p:nvSpPr>
        <p:spPr>
          <a:xfrm>
            <a:off x="5029614" y="4020383"/>
            <a:ext cx="6364828" cy="1640840"/>
          </a:xfrm>
          <a:prstGeom prst="rect">
            <a:avLst/>
          </a:prstGeom>
          <a:noFill/>
        </p:spPr>
        <p:txBody>
          <a:bodyPr wrap="square" lIns="0" tIns="0" rIns="0" bIns="0" rtlCol="0" anchor="t">
            <a:noAutofit/>
          </a:bodyPr>
          <a:lstStyle/>
          <a:p>
            <a:r>
              <a:rPr lang="en-IN" sz="1600" b="1" dirty="0">
                <a:latin typeface="Roboto" panose="02000000000000000000" pitchFamily="2" charset="0"/>
                <a:ea typeface="Roboto" panose="02000000000000000000" pitchFamily="2" charset="0"/>
                <a:cs typeface="Roboto" panose="02000000000000000000" pitchFamily="2" charset="0"/>
              </a:rPr>
              <a:t>    Recommendation:</a:t>
            </a:r>
          </a:p>
          <a:p>
            <a:endParaRPr lang="en-US" sz="1600" b="1" dirty="0">
              <a:latin typeface="Roboto" panose="02000000000000000000" pitchFamily="2"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Focus marketing efforts on Mainstream customers,</a:t>
            </a:r>
          </a:p>
          <a:p>
            <a:pPr marL="171450" indent="-17145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maintain strong visibility for Kettle products,</a:t>
            </a:r>
          </a:p>
          <a:p>
            <a:pPr marL="171450" indent="-17145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and prioritize 175g packs in promotions.</a:t>
            </a:r>
            <a:endParaRPr lang="en-IN" sz="12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IN" dirty="0"/>
              <a:t>AFFLUENCE AND ITS EFFECT ON CUSTOMER BUYING</a:t>
            </a:r>
            <a:endParaRPr lang="en-AU" dirty="0"/>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3"/>
          <a:stretch>
            <a:fillRect/>
          </a:stretch>
        </p:blipFill>
        <p:spPr>
          <a:xfrm>
            <a:off x="12327032" y="0"/>
            <a:ext cx="1993565" cy="1457070"/>
          </a:xfrm>
          <a:prstGeom prst="rect">
            <a:avLst/>
          </a:prstGeom>
        </p:spPr>
      </p:pic>
      <p:pic>
        <p:nvPicPr>
          <p:cNvPr id="5" name="Picture 4">
            <a:extLst>
              <a:ext uri="{FF2B5EF4-FFF2-40B4-BE49-F238E27FC236}">
                <a16:creationId xmlns:a16="http://schemas.microsoft.com/office/drawing/2014/main" id="{0EE6B29D-0AC3-7F72-5827-A1886EB834B1}"/>
              </a:ext>
            </a:extLst>
          </p:cNvPr>
          <p:cNvPicPr>
            <a:picLocks noChangeAspect="1"/>
          </p:cNvPicPr>
          <p:nvPr/>
        </p:nvPicPr>
        <p:blipFill>
          <a:blip r:embed="rId4">
            <a:extLst>
              <a:ext uri="{28A0092B-C50C-407E-A947-70E740481C1C}">
                <a14:useLocalDpi xmlns:a14="http://schemas.microsoft.com/office/drawing/2010/main" val="0"/>
              </a:ext>
            </a:extLst>
          </a:blip>
          <a:srcRect t="6401"/>
          <a:stretch>
            <a:fillRect/>
          </a:stretch>
        </p:blipFill>
        <p:spPr>
          <a:xfrm>
            <a:off x="1196975" y="1689971"/>
            <a:ext cx="5894844" cy="3937004"/>
          </a:xfrm>
          <a:prstGeom prst="rect">
            <a:avLst/>
          </a:prstGeom>
        </p:spPr>
      </p:pic>
      <p:sp>
        <p:nvSpPr>
          <p:cNvPr id="7" name="TextBox 6">
            <a:extLst>
              <a:ext uri="{FF2B5EF4-FFF2-40B4-BE49-F238E27FC236}">
                <a16:creationId xmlns:a16="http://schemas.microsoft.com/office/drawing/2014/main" id="{DD01618A-433D-B0E9-A7E7-C18A3247800D}"/>
              </a:ext>
            </a:extLst>
          </p:cNvPr>
          <p:cNvSpPr txBox="1"/>
          <p:nvPr/>
        </p:nvSpPr>
        <p:spPr>
          <a:xfrm>
            <a:off x="1109979" y="865571"/>
            <a:ext cx="8392355" cy="338554"/>
          </a:xfrm>
          <a:prstGeom prst="rect">
            <a:avLst/>
          </a:prstGeom>
          <a:noFill/>
        </p:spPr>
        <p:txBody>
          <a:bodyPr wrap="square">
            <a:spAutoFit/>
          </a:bodyPr>
          <a:lstStyle/>
          <a:p>
            <a:r>
              <a:rPr lang="en-IN" sz="1600" dirty="0">
                <a:ea typeface="Roboto" panose="02000000000000000000" pitchFamily="2" charset="0"/>
                <a:cs typeface="Roboto" panose="02000000000000000000" pitchFamily="2" charset="0"/>
              </a:rPr>
              <a:t>Mainstream customers contribute the largest share of chip category sales.</a:t>
            </a:r>
          </a:p>
        </p:txBody>
      </p:sp>
      <p:sp>
        <p:nvSpPr>
          <p:cNvPr id="8" name="Rectangle 7">
            <a:extLst>
              <a:ext uri="{FF2B5EF4-FFF2-40B4-BE49-F238E27FC236}">
                <a16:creationId xmlns:a16="http://schemas.microsoft.com/office/drawing/2014/main" id="{DB467257-8255-A857-98E0-22AE54EED92E}"/>
              </a:ext>
            </a:extLst>
          </p:cNvPr>
          <p:cNvSpPr/>
          <p:nvPr/>
        </p:nvSpPr>
        <p:spPr>
          <a:xfrm>
            <a:off x="7701280" y="1689971"/>
            <a:ext cx="3789680" cy="3247789"/>
          </a:xfrm>
          <a:prstGeom prst="rect">
            <a:avLst/>
          </a:prstGeom>
          <a:solidFill>
            <a:srgbClr val="ECE8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 name="TextBox 8">
            <a:extLst>
              <a:ext uri="{FF2B5EF4-FFF2-40B4-BE49-F238E27FC236}">
                <a16:creationId xmlns:a16="http://schemas.microsoft.com/office/drawing/2014/main" id="{684087DE-D0CC-B425-AA85-E6232B36BF8E}"/>
              </a:ext>
            </a:extLst>
          </p:cNvPr>
          <p:cNvSpPr txBox="1"/>
          <p:nvPr/>
        </p:nvSpPr>
        <p:spPr>
          <a:xfrm>
            <a:off x="7886895" y="1879600"/>
            <a:ext cx="3789680" cy="3828655"/>
          </a:xfrm>
          <a:prstGeom prst="rect">
            <a:avLst/>
          </a:prstGeom>
          <a:noFill/>
        </p:spPr>
        <p:txBody>
          <a:bodyPr wrap="square" lIns="0" tIns="0" rIns="0" bIns="0" rtlCol="0" anchor="t">
            <a:noAutofit/>
          </a:bodyPr>
          <a:lstStyle/>
          <a:p>
            <a:r>
              <a:rPr lang="en-IN" sz="1600" b="1" dirty="0">
                <a:latin typeface="Roboto" panose="02000000000000000000" pitchFamily="2" charset="0"/>
                <a:ea typeface="Roboto" panose="02000000000000000000" pitchFamily="2" charset="0"/>
                <a:cs typeface="Roboto" panose="02000000000000000000" pitchFamily="2" charset="0"/>
              </a:rPr>
              <a:t>Key Findings</a:t>
            </a:r>
          </a:p>
          <a:p>
            <a:endParaRPr lang="en-IN" sz="1200" b="1" dirty="0">
              <a:latin typeface="Roboto" panose="02000000000000000000" pitchFamily="2" charset="0"/>
              <a:ea typeface="Roboto" panose="02000000000000000000" pitchFamily="2" charset="0"/>
              <a:cs typeface="Roboto" panose="02000000000000000000" pitchFamily="2" charset="0"/>
            </a:endParaRPr>
          </a:p>
          <a:p>
            <a:r>
              <a:rPr lang="en-IN" sz="1400" b="1" dirty="0">
                <a:latin typeface="Roboto" panose="02000000000000000000" pitchFamily="2" charset="0"/>
                <a:ea typeface="Roboto" panose="02000000000000000000" pitchFamily="2" charset="0"/>
                <a:cs typeface="Roboto" panose="02000000000000000000" pitchFamily="2" charset="0"/>
              </a:rPr>
              <a:t>Mainstream</a:t>
            </a:r>
            <a:r>
              <a:rPr lang="en-IN" sz="1200" b="1" dirty="0">
                <a:latin typeface="Roboto" panose="02000000000000000000" pitchFamily="2" charset="0"/>
                <a:ea typeface="Roboto" panose="02000000000000000000" pitchFamily="2" charset="0"/>
                <a:cs typeface="Roboto" panose="02000000000000000000" pitchFamily="2" charset="0"/>
              </a:rPr>
              <a:t> </a:t>
            </a:r>
            <a:r>
              <a:rPr lang="en-IN" sz="1400" b="1" dirty="0">
                <a:latin typeface="Roboto" panose="02000000000000000000" pitchFamily="2" charset="0"/>
                <a:ea typeface="Roboto" panose="02000000000000000000" pitchFamily="2" charset="0"/>
                <a:cs typeface="Roboto" panose="02000000000000000000" pitchFamily="2" charset="0"/>
              </a:rPr>
              <a:t>Customers</a:t>
            </a:r>
            <a:endParaRPr lang="en-IN" sz="1200" dirty="0">
              <a:latin typeface="Roboto" panose="02000000000000000000" pitchFamily="2"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IN" sz="1200" dirty="0">
                <a:latin typeface="Roboto" panose="02000000000000000000" pitchFamily="2" charset="0"/>
                <a:ea typeface="Roboto" panose="02000000000000000000" pitchFamily="2" charset="0"/>
                <a:cs typeface="Roboto" panose="02000000000000000000" pitchFamily="2" charset="0"/>
              </a:rPr>
              <a:t>Generated the highest overall sales. </a:t>
            </a:r>
          </a:p>
          <a:p>
            <a:pPr marL="171450" indent="-171450">
              <a:buFont typeface="Arial" panose="020B0604020202020204" pitchFamily="34" charset="0"/>
              <a:buChar char="•"/>
            </a:pPr>
            <a:r>
              <a:rPr lang="en-IN" sz="1200" dirty="0">
                <a:latin typeface="Roboto" panose="02000000000000000000" pitchFamily="2" charset="0"/>
                <a:ea typeface="Roboto" panose="02000000000000000000" pitchFamily="2" charset="0"/>
                <a:cs typeface="Roboto" panose="02000000000000000000" pitchFamily="2" charset="0"/>
              </a:rPr>
              <a:t>Represent the largest purchasing segment. </a:t>
            </a:r>
          </a:p>
          <a:p>
            <a:endParaRPr lang="en-IN" sz="1200" dirty="0">
              <a:latin typeface="Roboto" panose="02000000000000000000" pitchFamily="2" charset="0"/>
              <a:ea typeface="Roboto" panose="02000000000000000000" pitchFamily="2" charset="0"/>
              <a:cs typeface="Roboto" panose="02000000000000000000" pitchFamily="2" charset="0"/>
            </a:endParaRPr>
          </a:p>
          <a:p>
            <a:r>
              <a:rPr lang="en-IN" sz="1400" b="1" dirty="0">
                <a:latin typeface="Roboto" panose="02000000000000000000" pitchFamily="2" charset="0"/>
                <a:ea typeface="Roboto" panose="02000000000000000000" pitchFamily="2" charset="0"/>
                <a:cs typeface="Roboto" panose="02000000000000000000" pitchFamily="2" charset="0"/>
              </a:rPr>
              <a:t>Premium</a:t>
            </a:r>
            <a:r>
              <a:rPr lang="en-IN" sz="1200" b="1" dirty="0">
                <a:latin typeface="Roboto" panose="02000000000000000000" pitchFamily="2" charset="0"/>
                <a:ea typeface="Roboto" panose="02000000000000000000" pitchFamily="2" charset="0"/>
                <a:cs typeface="Roboto" panose="02000000000000000000" pitchFamily="2" charset="0"/>
              </a:rPr>
              <a:t> </a:t>
            </a:r>
            <a:r>
              <a:rPr lang="en-IN" sz="1400" b="1" dirty="0">
                <a:latin typeface="Roboto" panose="02000000000000000000" pitchFamily="2" charset="0"/>
                <a:ea typeface="Roboto" panose="02000000000000000000" pitchFamily="2" charset="0"/>
                <a:cs typeface="Roboto" panose="02000000000000000000" pitchFamily="2" charset="0"/>
              </a:rPr>
              <a:t>Customers</a:t>
            </a:r>
            <a:endParaRPr lang="en-IN" sz="1200" dirty="0">
              <a:latin typeface="Roboto" panose="02000000000000000000" pitchFamily="2"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IN" sz="1200" dirty="0">
                <a:latin typeface="Roboto" panose="02000000000000000000" pitchFamily="2" charset="0"/>
                <a:ea typeface="Roboto" panose="02000000000000000000" pitchFamily="2" charset="0"/>
                <a:cs typeface="Roboto" panose="02000000000000000000" pitchFamily="2" charset="0"/>
              </a:rPr>
              <a:t>Tend to spend more per transaction. </a:t>
            </a:r>
          </a:p>
          <a:p>
            <a:pPr marL="171450" indent="-171450">
              <a:buFont typeface="Arial" panose="020B0604020202020204" pitchFamily="34" charset="0"/>
              <a:buChar char="•"/>
            </a:pPr>
            <a:r>
              <a:rPr lang="en-IN" sz="1200" dirty="0">
                <a:latin typeface="Roboto" panose="02000000000000000000" pitchFamily="2" charset="0"/>
                <a:ea typeface="Roboto" panose="02000000000000000000" pitchFamily="2" charset="0"/>
                <a:cs typeface="Roboto" panose="02000000000000000000" pitchFamily="2" charset="0"/>
              </a:rPr>
              <a:t>Show stronger preference for premium products.</a:t>
            </a:r>
          </a:p>
          <a:p>
            <a:r>
              <a:rPr lang="en-IN" sz="1200" dirty="0">
                <a:latin typeface="Roboto" panose="02000000000000000000" pitchFamily="2" charset="0"/>
                <a:ea typeface="Roboto" panose="02000000000000000000" pitchFamily="2" charset="0"/>
                <a:cs typeface="Roboto" panose="02000000000000000000" pitchFamily="2" charset="0"/>
              </a:rPr>
              <a:t> </a:t>
            </a:r>
          </a:p>
          <a:p>
            <a:r>
              <a:rPr lang="en-IN" sz="1400" b="1" dirty="0">
                <a:latin typeface="Roboto" panose="02000000000000000000" pitchFamily="2" charset="0"/>
                <a:ea typeface="Roboto" panose="02000000000000000000" pitchFamily="2" charset="0"/>
                <a:cs typeface="Roboto" panose="02000000000000000000" pitchFamily="2" charset="0"/>
              </a:rPr>
              <a:t>Budget</a:t>
            </a:r>
            <a:r>
              <a:rPr lang="en-IN" sz="1200" b="1" dirty="0">
                <a:latin typeface="Roboto" panose="02000000000000000000" pitchFamily="2" charset="0"/>
                <a:ea typeface="Roboto" panose="02000000000000000000" pitchFamily="2" charset="0"/>
                <a:cs typeface="Roboto" panose="02000000000000000000" pitchFamily="2" charset="0"/>
              </a:rPr>
              <a:t> </a:t>
            </a:r>
            <a:r>
              <a:rPr lang="en-IN" sz="1400" b="1" dirty="0">
                <a:latin typeface="Roboto" panose="02000000000000000000" pitchFamily="2" charset="0"/>
                <a:ea typeface="Roboto" panose="02000000000000000000" pitchFamily="2" charset="0"/>
                <a:cs typeface="Roboto" panose="02000000000000000000" pitchFamily="2" charset="0"/>
              </a:rPr>
              <a:t>Customers</a:t>
            </a:r>
            <a:endParaRPr lang="en-IN" sz="1200" dirty="0">
              <a:latin typeface="Roboto" panose="02000000000000000000" pitchFamily="2" charset="0"/>
              <a:ea typeface="Roboto" panose="02000000000000000000" pitchFamily="2" charset="0"/>
              <a:cs typeface="Roboto" panose="02000000000000000000" pitchFamily="2" charset="0"/>
            </a:endParaRPr>
          </a:p>
          <a:p>
            <a:pPr marL="228600" indent="-228600">
              <a:buFont typeface="Arial" panose="020B0604020202020204" pitchFamily="34" charset="0"/>
              <a:buChar char="•"/>
            </a:pPr>
            <a:r>
              <a:rPr lang="en-IN" sz="1200" dirty="0">
                <a:latin typeface="Roboto" panose="02000000000000000000" pitchFamily="2" charset="0"/>
                <a:ea typeface="Roboto" panose="02000000000000000000" pitchFamily="2" charset="0"/>
                <a:cs typeface="Roboto" panose="02000000000000000000" pitchFamily="2" charset="0"/>
              </a:rPr>
              <a:t>Contribute through frequent purchases. </a:t>
            </a:r>
          </a:p>
          <a:p>
            <a:pPr marL="228600" indent="-228600">
              <a:buFont typeface="Arial" panose="020B0604020202020204" pitchFamily="34" charset="0"/>
              <a:buChar char="•"/>
            </a:pPr>
            <a:r>
              <a:rPr lang="en-IN" sz="1200" dirty="0">
                <a:latin typeface="Roboto" panose="02000000000000000000" pitchFamily="2" charset="0"/>
                <a:ea typeface="Roboto" panose="02000000000000000000" pitchFamily="2" charset="0"/>
                <a:cs typeface="Roboto" panose="02000000000000000000" pitchFamily="2" charset="0"/>
              </a:rPr>
              <a:t>Important volume-driving segment.</a:t>
            </a:r>
          </a:p>
          <a:p>
            <a:pPr algn="l"/>
            <a:endParaRPr lang="en-IN" sz="1200" dirty="0" err="1">
              <a:latin typeface="Roboto Light" panose="02000000000000000000" pitchFamily="2" charset="0"/>
              <a:ea typeface="Roboto Light" panose="02000000000000000000" pitchFamily="2" charset="0"/>
            </a:endParaRPr>
          </a:p>
        </p:txBody>
      </p:sp>
      <p:sp>
        <p:nvSpPr>
          <p:cNvPr id="12" name="Rectangle 11">
            <a:extLst>
              <a:ext uri="{FF2B5EF4-FFF2-40B4-BE49-F238E27FC236}">
                <a16:creationId xmlns:a16="http://schemas.microsoft.com/office/drawing/2014/main" id="{1BD58A89-8CC0-D40F-A473-9880A10A0A52}"/>
              </a:ext>
            </a:extLst>
          </p:cNvPr>
          <p:cNvSpPr/>
          <p:nvPr/>
        </p:nvSpPr>
        <p:spPr>
          <a:xfrm>
            <a:off x="7772400" y="5262880"/>
            <a:ext cx="4104640" cy="1392122"/>
          </a:xfrm>
          <a:prstGeom prst="rect">
            <a:avLst/>
          </a:prstGeom>
          <a:solidFill>
            <a:srgbClr val="ECE8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err="1">
              <a:solidFill>
                <a:srgbClr val="000005"/>
              </a:solidFill>
              <a:latin typeface="Roboto Light" panose="02000000000000000000" pitchFamily="2" charset="0"/>
              <a:ea typeface="Roboto Light" panose="02000000000000000000" pitchFamily="2" charset="0"/>
            </a:endParaRPr>
          </a:p>
        </p:txBody>
      </p:sp>
      <p:sp>
        <p:nvSpPr>
          <p:cNvPr id="11" name="TextBox 10">
            <a:extLst>
              <a:ext uri="{FF2B5EF4-FFF2-40B4-BE49-F238E27FC236}">
                <a16:creationId xmlns:a16="http://schemas.microsoft.com/office/drawing/2014/main" id="{1CC1F914-97A7-4B8B-0289-BC5A4B5B77CD}"/>
              </a:ext>
            </a:extLst>
          </p:cNvPr>
          <p:cNvSpPr txBox="1"/>
          <p:nvPr/>
        </p:nvSpPr>
        <p:spPr>
          <a:xfrm>
            <a:off x="7886895" y="5349960"/>
            <a:ext cx="4104640" cy="1261884"/>
          </a:xfrm>
          <a:prstGeom prst="rect">
            <a:avLst/>
          </a:prstGeom>
          <a:noFill/>
        </p:spPr>
        <p:txBody>
          <a:bodyPr wrap="square">
            <a:spAutoFit/>
          </a:bodyPr>
          <a:lstStyle/>
          <a:p>
            <a:r>
              <a:rPr lang="en-IN" sz="1400" b="1" dirty="0">
                <a:latin typeface="Roboto" panose="02000000000000000000" pitchFamily="2" charset="0"/>
                <a:ea typeface="Roboto" panose="02000000000000000000" pitchFamily="2" charset="0"/>
                <a:cs typeface="Roboto" panose="02000000000000000000" pitchFamily="2" charset="0"/>
              </a:rPr>
              <a:t>Business Implication</a:t>
            </a:r>
          </a:p>
          <a:p>
            <a:endParaRPr lang="en-IN" sz="1400" dirty="0"/>
          </a:p>
          <a:p>
            <a:r>
              <a:rPr lang="en-IN" sz="1200" dirty="0">
                <a:latin typeface="Roboto" panose="02000000000000000000" pitchFamily="2" charset="0"/>
                <a:ea typeface="Roboto" panose="02000000000000000000" pitchFamily="2" charset="0"/>
                <a:cs typeface="Roboto" panose="02000000000000000000" pitchFamily="2" charset="0"/>
              </a:rPr>
              <a:t>Mainstream customers should remain the primary focus of marketing and promotional activities, while premium products can be targeted toward higher-spending customer groups.</a:t>
            </a:r>
          </a:p>
        </p:txBody>
      </p:sp>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dirty="0"/>
              <a:t>Mainstream customers represent the largest customer group across most life stages.</a:t>
            </a:r>
            <a:endParaRPr lang="en-AU" dirty="0"/>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3"/>
          <a:stretch>
            <a:fillRect/>
          </a:stretch>
        </p:blipFill>
        <p:spPr>
          <a:xfrm>
            <a:off x="12294760" y="4948"/>
            <a:ext cx="1993565" cy="1639966"/>
          </a:xfrm>
          <a:prstGeom prst="rect">
            <a:avLst/>
          </a:prstGeom>
        </p:spPr>
      </p:pic>
      <p:pic>
        <p:nvPicPr>
          <p:cNvPr id="6" name="Picture 5">
            <a:extLst>
              <a:ext uri="{FF2B5EF4-FFF2-40B4-BE49-F238E27FC236}">
                <a16:creationId xmlns:a16="http://schemas.microsoft.com/office/drawing/2014/main" id="{FAF0F633-9F68-BBC6-769D-62813A245A46}"/>
              </a:ext>
            </a:extLst>
          </p:cNvPr>
          <p:cNvPicPr>
            <a:picLocks noChangeAspect="1"/>
          </p:cNvPicPr>
          <p:nvPr/>
        </p:nvPicPr>
        <p:blipFill>
          <a:blip r:embed="rId4">
            <a:extLst>
              <a:ext uri="{28A0092B-C50C-407E-A947-70E740481C1C}">
                <a14:useLocalDpi xmlns:a14="http://schemas.microsoft.com/office/drawing/2010/main" val="0"/>
              </a:ext>
            </a:extLst>
          </a:blip>
          <a:srcRect l="3279" t="4228" b="4778"/>
          <a:stretch>
            <a:fillRect/>
          </a:stretch>
        </p:blipFill>
        <p:spPr>
          <a:xfrm>
            <a:off x="1196975" y="1452879"/>
            <a:ext cx="6687185" cy="4257041"/>
          </a:xfrm>
          <a:prstGeom prst="rect">
            <a:avLst/>
          </a:prstGeom>
        </p:spPr>
      </p:pic>
      <p:sp>
        <p:nvSpPr>
          <p:cNvPr id="11" name="Rectangle 10">
            <a:extLst>
              <a:ext uri="{FF2B5EF4-FFF2-40B4-BE49-F238E27FC236}">
                <a16:creationId xmlns:a16="http://schemas.microsoft.com/office/drawing/2014/main" id="{C3247A6E-25C9-487D-D62E-5C63831DCB76}"/>
              </a:ext>
            </a:extLst>
          </p:cNvPr>
          <p:cNvSpPr/>
          <p:nvPr/>
        </p:nvSpPr>
        <p:spPr>
          <a:xfrm>
            <a:off x="8502345" y="1452879"/>
            <a:ext cx="3174230" cy="3247789"/>
          </a:xfrm>
          <a:prstGeom prst="rect">
            <a:avLst/>
          </a:prstGeom>
          <a:solidFill>
            <a:srgbClr val="ECE8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2" name="TextBox 11">
            <a:extLst>
              <a:ext uri="{FF2B5EF4-FFF2-40B4-BE49-F238E27FC236}">
                <a16:creationId xmlns:a16="http://schemas.microsoft.com/office/drawing/2014/main" id="{6A54FC81-BEDD-C5E6-E898-950FDD16F2C9}"/>
              </a:ext>
            </a:extLst>
          </p:cNvPr>
          <p:cNvSpPr txBox="1"/>
          <p:nvPr/>
        </p:nvSpPr>
        <p:spPr>
          <a:xfrm>
            <a:off x="8573465" y="1644914"/>
            <a:ext cx="3174230" cy="2983628"/>
          </a:xfrm>
          <a:prstGeom prst="rect">
            <a:avLst/>
          </a:prstGeom>
          <a:noFill/>
        </p:spPr>
        <p:txBody>
          <a:bodyPr wrap="square" lIns="0" tIns="0" rIns="0" bIns="0" rtlCol="0" anchor="t">
            <a:noAutofit/>
          </a:bodyPr>
          <a:lstStyle/>
          <a:p>
            <a:r>
              <a:rPr lang="en-IN" sz="1600" b="1" dirty="0">
                <a:latin typeface="Roboto" panose="02000000000000000000" pitchFamily="2" charset="0"/>
                <a:ea typeface="Roboto" panose="02000000000000000000" pitchFamily="2" charset="0"/>
                <a:cs typeface="Roboto" panose="02000000000000000000" pitchFamily="2" charset="0"/>
              </a:rPr>
              <a:t>    Key Insights :</a:t>
            </a:r>
          </a:p>
          <a:p>
            <a:pPr marL="285750" indent="-285750">
              <a:buFont typeface="Arial" panose="020B0604020202020204" pitchFamily="34" charset="0"/>
              <a:buChar char="•"/>
            </a:pPr>
            <a:endParaRPr lang="en-IN" sz="1600" b="1" dirty="0">
              <a:latin typeface="Roboto" panose="02000000000000000000" pitchFamily="2"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Mainstream customers dominate the customer base across multiple life stages</a:t>
            </a:r>
          </a:p>
          <a:p>
            <a:r>
              <a:rPr lang="en-US" sz="1200" dirty="0">
                <a:latin typeface="Roboto" panose="02000000000000000000" pitchFamily="2" charset="0"/>
                <a:ea typeface="Roboto" panose="02000000000000000000" pitchFamily="2" charset="0"/>
                <a:cs typeface="Roboto" panose="02000000000000000000" pitchFamily="2" charset="0"/>
              </a:rPr>
              <a:t>.</a:t>
            </a:r>
          </a:p>
          <a:p>
            <a:pPr marL="171450" indent="-17145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Older Families and Retirees account for a significant proportion of customers.</a:t>
            </a:r>
          </a:p>
          <a:p>
            <a:endParaRPr lang="en-US" sz="1200" dirty="0">
              <a:latin typeface="Roboto" panose="02000000000000000000" pitchFamily="2" charset="0"/>
              <a:ea typeface="Roboto" panose="02000000000000000000" pitchFamily="2" charset="0"/>
              <a:cs typeface="Roboto" panose="02000000000000000000" pitchFamily="2" charset="0"/>
            </a:endParaRPr>
          </a:p>
          <a:p>
            <a:pPr marL="171450" indent="-17145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Budget and Premium segments are smaller but provide opportunities for targeted promotions.</a:t>
            </a:r>
            <a:endParaRPr lang="en-IN" sz="1200" dirty="0">
              <a:latin typeface="Roboto" panose="02000000000000000000" pitchFamily="2" charset="0"/>
              <a:ea typeface="Roboto" panose="02000000000000000000" pitchFamily="2" charset="0"/>
              <a:cs typeface="Roboto" panose="02000000000000000000" pitchFamily="2" charset="0"/>
            </a:endParaRPr>
          </a:p>
          <a:p>
            <a:endParaRPr lang="en-IN" sz="1600" b="1" dirty="0">
              <a:latin typeface="Roboto" panose="02000000000000000000" pitchFamily="2" charset="0"/>
              <a:ea typeface="Roboto" panose="02000000000000000000" pitchFamily="2" charset="0"/>
              <a:cs typeface="Roboto" panose="02000000000000000000" pitchFamily="2" charset="0"/>
            </a:endParaRPr>
          </a:p>
          <a:p>
            <a:endParaRPr lang="en-IN" sz="1600" b="1" dirty="0">
              <a:latin typeface="Roboto" panose="02000000000000000000" pitchFamily="2" charset="0"/>
              <a:ea typeface="Roboto" panose="02000000000000000000" pitchFamily="2" charset="0"/>
              <a:cs typeface="Roboto" panose="02000000000000000000" pitchFamily="2" charset="0"/>
            </a:endParaRPr>
          </a:p>
        </p:txBody>
      </p:sp>
      <p:sp>
        <p:nvSpPr>
          <p:cNvPr id="13" name="Rectangle 12">
            <a:extLst>
              <a:ext uri="{FF2B5EF4-FFF2-40B4-BE49-F238E27FC236}">
                <a16:creationId xmlns:a16="http://schemas.microsoft.com/office/drawing/2014/main" id="{0E31F605-19AE-A693-172E-8B973ABAE04F}"/>
              </a:ext>
            </a:extLst>
          </p:cNvPr>
          <p:cNvSpPr/>
          <p:nvPr/>
        </p:nvSpPr>
        <p:spPr>
          <a:xfrm>
            <a:off x="3037840" y="5885028"/>
            <a:ext cx="8638736" cy="68849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4" name="TextBox 13">
            <a:extLst>
              <a:ext uri="{FF2B5EF4-FFF2-40B4-BE49-F238E27FC236}">
                <a16:creationId xmlns:a16="http://schemas.microsoft.com/office/drawing/2014/main" id="{1D3BC08B-E381-5A5F-AA17-CE9B96ED9A85}"/>
              </a:ext>
            </a:extLst>
          </p:cNvPr>
          <p:cNvSpPr txBox="1"/>
          <p:nvPr/>
        </p:nvSpPr>
        <p:spPr>
          <a:xfrm>
            <a:off x="3169919" y="5974080"/>
            <a:ext cx="8709855" cy="430549"/>
          </a:xfrm>
          <a:prstGeom prst="rect">
            <a:avLst/>
          </a:prstGeom>
          <a:noFill/>
        </p:spPr>
        <p:txBody>
          <a:bodyPr wrap="square" lIns="0" tIns="0" rIns="0" bIns="0" rtlCol="0" anchor="t">
            <a:noAutofit/>
          </a:bodyPr>
          <a:lstStyle/>
          <a:p>
            <a:r>
              <a:rPr lang="en-US" sz="1200" b="1" dirty="0">
                <a:latin typeface="Roboto" panose="02000000000000000000" pitchFamily="2" charset="0"/>
                <a:ea typeface="Roboto" panose="02000000000000000000" pitchFamily="2" charset="0"/>
                <a:cs typeface="Roboto" panose="02000000000000000000" pitchFamily="2" charset="0"/>
              </a:rPr>
              <a:t>Business Implication</a:t>
            </a:r>
          </a:p>
          <a:p>
            <a:r>
              <a:rPr lang="en-US" sz="1200" dirty="0">
                <a:latin typeface="Roboto" panose="02000000000000000000" pitchFamily="2" charset="0"/>
                <a:ea typeface="Roboto" panose="02000000000000000000" pitchFamily="2" charset="0"/>
                <a:cs typeface="Roboto" panose="02000000000000000000" pitchFamily="2" charset="0"/>
              </a:rPr>
              <a:t>Marketing strategies should prioritize Mainstream customers while developing targeted offers for Budget and Premium segments based on life stage characteristics.</a:t>
            </a:r>
            <a:endParaRPr lang="en-IN" sz="1200" dirty="0" err="1">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  </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a:xfrm>
            <a:off x="1162050" y="2606040"/>
            <a:ext cx="11243310" cy="822960"/>
          </a:xfrm>
        </p:spPr>
        <p:txBody>
          <a:bodyPr/>
          <a:lstStyle/>
          <a:p>
            <a:r>
              <a:rPr lang="en-US" sz="1600" dirty="0">
                <a:latin typeface="Roboto" panose="02000000000000000000" pitchFamily="2" charset="0"/>
                <a:ea typeface="Roboto" panose="02000000000000000000" pitchFamily="2" charset="0"/>
                <a:cs typeface="Roboto" panose="02000000000000000000" pitchFamily="2" charset="0"/>
              </a:rPr>
              <a:t>Objective</a:t>
            </a:r>
          </a:p>
          <a:p>
            <a:r>
              <a:rPr lang="en-US" sz="1200" dirty="0">
                <a:latin typeface="Roboto" panose="02000000000000000000" pitchFamily="2" charset="0"/>
                <a:ea typeface="Roboto" panose="02000000000000000000" pitchFamily="2" charset="0"/>
                <a:cs typeface="Roboto" panose="02000000000000000000" pitchFamily="2" charset="0"/>
              </a:rPr>
              <a:t>Evaluate whether the new store layout improved sales performance and customer purchasing </a:t>
            </a:r>
            <a:r>
              <a:rPr lang="en-US" sz="1200" dirty="0" err="1">
                <a:latin typeface="Roboto" panose="02000000000000000000" pitchFamily="2" charset="0"/>
                <a:ea typeface="Roboto" panose="02000000000000000000" pitchFamily="2" charset="0"/>
                <a:cs typeface="Roboto" panose="02000000000000000000" pitchFamily="2" charset="0"/>
              </a:rPr>
              <a:t>behaviour</a:t>
            </a:r>
            <a:r>
              <a:rPr lang="en-US" sz="1200" dirty="0">
                <a:latin typeface="Roboto" panose="02000000000000000000" pitchFamily="2" charset="0"/>
                <a:ea typeface="Roboto" panose="02000000000000000000" pitchFamily="2" charset="0"/>
                <a:cs typeface="Roboto" panose="02000000000000000000" pitchFamily="2" charset="0"/>
              </a:rPr>
              <a:t>.</a:t>
            </a:r>
            <a:endParaRPr lang="en-AU" sz="1200" dirty="0">
              <a:latin typeface="Roboto" panose="02000000000000000000" pitchFamily="2" charset="0"/>
              <a:ea typeface="Roboto" panose="02000000000000000000" pitchFamily="2" charset="0"/>
              <a:cs typeface="Roboto" panose="02000000000000000000" pitchFamily="2" charset="0"/>
            </a:endParaRPr>
          </a:p>
        </p:txBody>
      </p:sp>
      <p:graphicFrame>
        <p:nvGraphicFramePr>
          <p:cNvPr id="8" name="Table 7">
            <a:extLst>
              <a:ext uri="{FF2B5EF4-FFF2-40B4-BE49-F238E27FC236}">
                <a16:creationId xmlns:a16="http://schemas.microsoft.com/office/drawing/2014/main" id="{A99C9B0F-51F9-3A54-AB5E-8FCEFBECC198}"/>
              </a:ext>
            </a:extLst>
          </p:cNvPr>
          <p:cNvGraphicFramePr>
            <a:graphicFrameLocks noGrp="1"/>
          </p:cNvGraphicFramePr>
          <p:nvPr>
            <p:extLst>
              <p:ext uri="{D42A27DB-BD31-4B8C-83A1-F6EECF244321}">
                <p14:modId xmlns:p14="http://schemas.microsoft.com/office/powerpoint/2010/main" val="2126353255"/>
              </p:ext>
            </p:extLst>
          </p:nvPr>
        </p:nvGraphicFramePr>
        <p:xfrm>
          <a:off x="1294607" y="3429000"/>
          <a:ext cx="4345622" cy="1994536"/>
        </p:xfrm>
        <a:graphic>
          <a:graphicData uri="http://schemas.openxmlformats.org/drawingml/2006/table">
            <a:tbl>
              <a:tblPr>
                <a:tableStyleId>{3C2FFA5D-87B4-456A-9821-1D502468CF0F}</a:tableStyleId>
              </a:tblPr>
              <a:tblGrid>
                <a:gridCol w="2172811">
                  <a:extLst>
                    <a:ext uri="{9D8B030D-6E8A-4147-A177-3AD203B41FA5}">
                      <a16:colId xmlns:a16="http://schemas.microsoft.com/office/drawing/2014/main" val="254045389"/>
                    </a:ext>
                  </a:extLst>
                </a:gridCol>
                <a:gridCol w="2172811">
                  <a:extLst>
                    <a:ext uri="{9D8B030D-6E8A-4147-A177-3AD203B41FA5}">
                      <a16:colId xmlns:a16="http://schemas.microsoft.com/office/drawing/2014/main" val="3806857885"/>
                    </a:ext>
                  </a:extLst>
                </a:gridCol>
              </a:tblGrid>
              <a:tr h="498634">
                <a:tc>
                  <a:txBody>
                    <a:bodyPr/>
                    <a:lstStyle/>
                    <a:p>
                      <a:pPr>
                        <a:buNone/>
                      </a:pPr>
                      <a:r>
                        <a:rPr lang="en-IN" dirty="0">
                          <a:latin typeface="Roboto" panose="02000000000000000000" pitchFamily="2" charset="0"/>
                          <a:ea typeface="Roboto" panose="02000000000000000000" pitchFamily="2" charset="0"/>
                          <a:cs typeface="Roboto" panose="02000000000000000000" pitchFamily="2" charset="0"/>
                        </a:rPr>
                        <a:t>Trial Store</a:t>
                      </a:r>
                    </a:p>
                  </a:txBody>
                  <a:tcPr anchor="ctr"/>
                </a:tc>
                <a:tc>
                  <a:txBody>
                    <a:bodyPr/>
                    <a:lstStyle/>
                    <a:p>
                      <a:pPr>
                        <a:buNone/>
                      </a:pPr>
                      <a:r>
                        <a:rPr lang="en-IN" dirty="0">
                          <a:latin typeface="Roboto" panose="02000000000000000000" pitchFamily="2" charset="0"/>
                          <a:ea typeface="Roboto" panose="02000000000000000000" pitchFamily="2" charset="0"/>
                          <a:cs typeface="Roboto" panose="02000000000000000000" pitchFamily="2" charset="0"/>
                        </a:rPr>
                        <a:t>Control Store</a:t>
                      </a:r>
                    </a:p>
                  </a:txBody>
                  <a:tcPr anchor="ctr"/>
                </a:tc>
                <a:extLst>
                  <a:ext uri="{0D108BD9-81ED-4DB2-BD59-A6C34878D82A}">
                    <a16:rowId xmlns:a16="http://schemas.microsoft.com/office/drawing/2014/main" val="320135397"/>
                  </a:ext>
                </a:extLst>
              </a:tr>
              <a:tr h="498634">
                <a:tc>
                  <a:txBody>
                    <a:bodyPr/>
                    <a:lstStyle/>
                    <a:p>
                      <a:pPr>
                        <a:buNone/>
                      </a:pPr>
                      <a:r>
                        <a:rPr lang="en-IN" dirty="0">
                          <a:latin typeface="Roboto" panose="02000000000000000000" pitchFamily="2" charset="0"/>
                          <a:ea typeface="Roboto" panose="02000000000000000000" pitchFamily="2" charset="0"/>
                          <a:cs typeface="Roboto" panose="02000000000000000000" pitchFamily="2" charset="0"/>
                        </a:rPr>
                        <a:t>77</a:t>
                      </a:r>
                    </a:p>
                  </a:txBody>
                  <a:tcPr anchor="ctr"/>
                </a:tc>
                <a:tc>
                  <a:txBody>
                    <a:bodyPr/>
                    <a:lstStyle/>
                    <a:p>
                      <a:pPr>
                        <a:buNone/>
                      </a:pPr>
                      <a:r>
                        <a:rPr lang="en-IN">
                          <a:latin typeface="Roboto" panose="02000000000000000000" pitchFamily="2" charset="0"/>
                          <a:ea typeface="Roboto" panose="02000000000000000000" pitchFamily="2" charset="0"/>
                          <a:cs typeface="Roboto" panose="02000000000000000000" pitchFamily="2" charset="0"/>
                        </a:rPr>
                        <a:t>233</a:t>
                      </a:r>
                    </a:p>
                  </a:txBody>
                  <a:tcPr anchor="ctr"/>
                </a:tc>
                <a:extLst>
                  <a:ext uri="{0D108BD9-81ED-4DB2-BD59-A6C34878D82A}">
                    <a16:rowId xmlns:a16="http://schemas.microsoft.com/office/drawing/2014/main" val="314347627"/>
                  </a:ext>
                </a:extLst>
              </a:tr>
              <a:tr h="498634">
                <a:tc>
                  <a:txBody>
                    <a:bodyPr/>
                    <a:lstStyle/>
                    <a:p>
                      <a:pPr>
                        <a:buNone/>
                      </a:pPr>
                      <a:r>
                        <a:rPr lang="en-IN" dirty="0">
                          <a:latin typeface="Roboto" panose="02000000000000000000" pitchFamily="2" charset="0"/>
                          <a:ea typeface="Roboto" panose="02000000000000000000" pitchFamily="2" charset="0"/>
                          <a:cs typeface="Roboto" panose="02000000000000000000" pitchFamily="2" charset="0"/>
                        </a:rPr>
                        <a:t>86</a:t>
                      </a:r>
                    </a:p>
                  </a:txBody>
                  <a:tcPr anchor="ctr"/>
                </a:tc>
                <a:tc>
                  <a:txBody>
                    <a:bodyPr/>
                    <a:lstStyle/>
                    <a:p>
                      <a:pPr>
                        <a:buNone/>
                      </a:pPr>
                      <a:r>
                        <a:rPr lang="en-IN" dirty="0">
                          <a:latin typeface="Roboto" panose="02000000000000000000" pitchFamily="2" charset="0"/>
                          <a:ea typeface="Roboto" panose="02000000000000000000" pitchFamily="2" charset="0"/>
                          <a:cs typeface="Roboto" panose="02000000000000000000" pitchFamily="2" charset="0"/>
                        </a:rPr>
                        <a:t>155</a:t>
                      </a:r>
                    </a:p>
                  </a:txBody>
                  <a:tcPr anchor="ctr"/>
                </a:tc>
                <a:extLst>
                  <a:ext uri="{0D108BD9-81ED-4DB2-BD59-A6C34878D82A}">
                    <a16:rowId xmlns:a16="http://schemas.microsoft.com/office/drawing/2014/main" val="3821273070"/>
                  </a:ext>
                </a:extLst>
              </a:tr>
              <a:tr h="498634">
                <a:tc>
                  <a:txBody>
                    <a:bodyPr/>
                    <a:lstStyle/>
                    <a:p>
                      <a:pPr>
                        <a:buNone/>
                      </a:pPr>
                      <a:r>
                        <a:rPr lang="en-IN" dirty="0">
                          <a:latin typeface="Roboto" panose="02000000000000000000" pitchFamily="2" charset="0"/>
                          <a:ea typeface="Roboto" panose="02000000000000000000" pitchFamily="2" charset="0"/>
                          <a:cs typeface="Roboto" panose="02000000000000000000" pitchFamily="2" charset="0"/>
                        </a:rPr>
                        <a:t>88</a:t>
                      </a:r>
                    </a:p>
                  </a:txBody>
                  <a:tcPr anchor="ctr"/>
                </a:tc>
                <a:tc>
                  <a:txBody>
                    <a:bodyPr/>
                    <a:lstStyle/>
                    <a:p>
                      <a:pPr>
                        <a:buNone/>
                      </a:pPr>
                      <a:r>
                        <a:rPr lang="en-IN" dirty="0">
                          <a:latin typeface="Roboto" panose="02000000000000000000" pitchFamily="2" charset="0"/>
                          <a:ea typeface="Roboto" panose="02000000000000000000" pitchFamily="2" charset="0"/>
                          <a:cs typeface="Roboto" panose="02000000000000000000" pitchFamily="2" charset="0"/>
                        </a:rPr>
                        <a:t>125</a:t>
                      </a:r>
                    </a:p>
                  </a:txBody>
                  <a:tcPr anchor="ctr"/>
                </a:tc>
                <a:extLst>
                  <a:ext uri="{0D108BD9-81ED-4DB2-BD59-A6C34878D82A}">
                    <a16:rowId xmlns:a16="http://schemas.microsoft.com/office/drawing/2014/main" val="862547971"/>
                  </a:ext>
                </a:extLst>
              </a:tr>
            </a:tbl>
          </a:graphicData>
        </a:graphic>
      </p:graphicFrame>
      <p:sp>
        <p:nvSpPr>
          <p:cNvPr id="9" name="TextBox 8">
            <a:extLst>
              <a:ext uri="{FF2B5EF4-FFF2-40B4-BE49-F238E27FC236}">
                <a16:creationId xmlns:a16="http://schemas.microsoft.com/office/drawing/2014/main" id="{1F1A2836-C540-C403-5F56-36106425A1AE}"/>
              </a:ext>
            </a:extLst>
          </p:cNvPr>
          <p:cNvSpPr txBox="1"/>
          <p:nvPr/>
        </p:nvSpPr>
        <p:spPr>
          <a:xfrm>
            <a:off x="2926080" y="619760"/>
            <a:ext cx="7162800" cy="822960"/>
          </a:xfrm>
          <a:prstGeom prst="rect">
            <a:avLst/>
          </a:prstGeom>
          <a:noFill/>
        </p:spPr>
        <p:txBody>
          <a:bodyPr wrap="square" lIns="0" tIns="0" rIns="0" bIns="0" rtlCol="0" anchor="t">
            <a:noAutofit/>
          </a:bodyPr>
          <a:lstStyle/>
          <a:p>
            <a:r>
              <a:rPr lang="en-IN" sz="3200" b="1" dirty="0">
                <a:latin typeface="Roboto" panose="02000000000000000000" pitchFamily="2" charset="0"/>
                <a:ea typeface="Roboto" panose="02000000000000000000" pitchFamily="2" charset="0"/>
                <a:cs typeface="Roboto" panose="02000000000000000000" pitchFamily="2" charset="0"/>
              </a:rPr>
              <a:t>TRIAL STORE PERFORMANCE</a:t>
            </a:r>
          </a:p>
        </p:txBody>
      </p:sp>
      <p:sp>
        <p:nvSpPr>
          <p:cNvPr id="12" name="Rectangle 11">
            <a:extLst>
              <a:ext uri="{FF2B5EF4-FFF2-40B4-BE49-F238E27FC236}">
                <a16:creationId xmlns:a16="http://schemas.microsoft.com/office/drawing/2014/main" id="{7E1E29C9-A719-ECB4-6FDC-D3804D96A4C7}"/>
              </a:ext>
            </a:extLst>
          </p:cNvPr>
          <p:cNvSpPr/>
          <p:nvPr/>
        </p:nvSpPr>
        <p:spPr>
          <a:xfrm>
            <a:off x="7945120" y="3540617"/>
            <a:ext cx="2600960" cy="2001520"/>
          </a:xfrm>
          <a:prstGeom prst="rect">
            <a:avLst/>
          </a:prstGeom>
          <a:solidFill>
            <a:srgbClr val="ECE8E4"/>
          </a:solidFill>
          <a:ln>
            <a:noFill/>
          </a:ln>
          <a:effectLst>
            <a:glow rad="228600">
              <a:schemeClr val="accent4">
                <a:satMod val="175000"/>
                <a:alpha val="40000"/>
              </a:schemeClr>
            </a:glo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err="1">
              <a:ln w="0"/>
              <a:solidFill>
                <a:schemeClr val="accent1"/>
              </a:solidFill>
              <a:effectLst>
                <a:outerShdw blurRad="38100" dist="25400" dir="5400000" algn="ctr" rotWithShape="0">
                  <a:srgbClr val="6E747A">
                    <a:alpha val="43000"/>
                  </a:srgbClr>
                </a:outerShdw>
              </a:effectLst>
              <a:latin typeface="Roboto Light" panose="02000000000000000000" pitchFamily="2" charset="0"/>
              <a:ea typeface="Roboto Light" panose="02000000000000000000" pitchFamily="2" charset="0"/>
            </a:endParaRPr>
          </a:p>
        </p:txBody>
      </p:sp>
      <p:sp>
        <p:nvSpPr>
          <p:cNvPr id="11" name="TextBox 10">
            <a:extLst>
              <a:ext uri="{FF2B5EF4-FFF2-40B4-BE49-F238E27FC236}">
                <a16:creationId xmlns:a16="http://schemas.microsoft.com/office/drawing/2014/main" id="{013FAFBD-08A3-B651-78B3-D22A1EAE3DCA}"/>
              </a:ext>
            </a:extLst>
          </p:cNvPr>
          <p:cNvSpPr txBox="1"/>
          <p:nvPr/>
        </p:nvSpPr>
        <p:spPr>
          <a:xfrm>
            <a:off x="7680960" y="3607654"/>
            <a:ext cx="3129280" cy="1815882"/>
          </a:xfrm>
          <a:prstGeom prst="rect">
            <a:avLst/>
          </a:prstGeom>
          <a:noFill/>
        </p:spPr>
        <p:txBody>
          <a:bodyPr wrap="square">
            <a:spAutoFit/>
          </a:bodyPr>
          <a:lstStyle/>
          <a:p>
            <a:pPr algn="ctr"/>
            <a:r>
              <a:rPr lang="en-IN" sz="1600" dirty="0">
                <a:latin typeface="Roboto" panose="02000000000000000000" pitchFamily="2" charset="0"/>
                <a:ea typeface="Roboto" panose="02000000000000000000" pitchFamily="2" charset="0"/>
                <a:cs typeface="Roboto" panose="02000000000000000000" pitchFamily="2" charset="0"/>
              </a:rPr>
              <a:t>Pre-Trial Period</a:t>
            </a:r>
          </a:p>
          <a:p>
            <a:pPr algn="ctr"/>
            <a:r>
              <a:rPr lang="en-IN" sz="1600" dirty="0">
                <a:latin typeface="Roboto" panose="02000000000000000000" pitchFamily="2" charset="0"/>
                <a:ea typeface="Roboto" panose="02000000000000000000" pitchFamily="2" charset="0"/>
                <a:cs typeface="Roboto" panose="02000000000000000000" pitchFamily="2" charset="0"/>
              </a:rPr>
              <a:t>  ↓</a:t>
            </a:r>
          </a:p>
          <a:p>
            <a:pPr algn="ctr"/>
            <a:r>
              <a:rPr lang="en-IN" sz="1600" dirty="0">
                <a:latin typeface="Roboto" panose="02000000000000000000" pitchFamily="2" charset="0"/>
                <a:ea typeface="Roboto" panose="02000000000000000000" pitchFamily="2" charset="0"/>
                <a:cs typeface="Roboto" panose="02000000000000000000" pitchFamily="2" charset="0"/>
              </a:rPr>
              <a:t>Control Store Selection</a:t>
            </a:r>
          </a:p>
          <a:p>
            <a:pPr algn="ctr"/>
            <a:r>
              <a:rPr lang="en-IN" sz="1600" dirty="0">
                <a:latin typeface="Roboto" panose="02000000000000000000" pitchFamily="2" charset="0"/>
                <a:ea typeface="Roboto" panose="02000000000000000000" pitchFamily="2" charset="0"/>
                <a:cs typeface="Roboto" panose="02000000000000000000" pitchFamily="2" charset="0"/>
              </a:rPr>
              <a:t>   ↓</a:t>
            </a:r>
          </a:p>
          <a:p>
            <a:pPr algn="ctr"/>
            <a:r>
              <a:rPr lang="en-IN" sz="1600" dirty="0">
                <a:latin typeface="Roboto" panose="02000000000000000000" pitchFamily="2" charset="0"/>
                <a:ea typeface="Roboto" panose="02000000000000000000" pitchFamily="2" charset="0"/>
                <a:cs typeface="Roboto" panose="02000000000000000000" pitchFamily="2" charset="0"/>
              </a:rPr>
              <a:t>Trial Period Analysis</a:t>
            </a:r>
          </a:p>
          <a:p>
            <a:pPr algn="ctr"/>
            <a:r>
              <a:rPr lang="en-IN" sz="1600" dirty="0">
                <a:latin typeface="Roboto" panose="02000000000000000000" pitchFamily="2" charset="0"/>
                <a:ea typeface="Roboto" panose="02000000000000000000" pitchFamily="2" charset="0"/>
                <a:cs typeface="Roboto" panose="02000000000000000000" pitchFamily="2" charset="0"/>
              </a:rPr>
              <a:t>   ↓</a:t>
            </a:r>
          </a:p>
          <a:p>
            <a:pPr algn="ctr"/>
            <a:r>
              <a:rPr lang="en-IN" sz="1600" dirty="0">
                <a:latin typeface="Roboto" panose="02000000000000000000" pitchFamily="2" charset="0"/>
                <a:ea typeface="Roboto" panose="02000000000000000000" pitchFamily="2" charset="0"/>
                <a:cs typeface="Roboto" panose="02000000000000000000" pitchFamily="2" charset="0"/>
              </a:rPr>
              <a:t>Sales &amp; Customer Uplift</a:t>
            </a:r>
          </a:p>
        </p:txBody>
      </p:sp>
      <p:sp>
        <p:nvSpPr>
          <p:cNvPr id="14" name="TextBox 13">
            <a:extLst>
              <a:ext uri="{FF2B5EF4-FFF2-40B4-BE49-F238E27FC236}">
                <a16:creationId xmlns:a16="http://schemas.microsoft.com/office/drawing/2014/main" id="{50CF4B91-94D4-6D75-C091-CB67BDD32C19}"/>
              </a:ext>
            </a:extLst>
          </p:cNvPr>
          <p:cNvSpPr txBox="1"/>
          <p:nvPr/>
        </p:nvSpPr>
        <p:spPr>
          <a:xfrm>
            <a:off x="3048000" y="5750064"/>
            <a:ext cx="8686800" cy="707886"/>
          </a:xfrm>
          <a:prstGeom prst="rect">
            <a:avLst/>
          </a:prstGeom>
          <a:noFill/>
        </p:spPr>
        <p:txBody>
          <a:bodyPr wrap="square">
            <a:spAutoFit/>
          </a:bodyPr>
          <a:lstStyle/>
          <a:p>
            <a:r>
              <a:rPr lang="en-IN" sz="1600" dirty="0">
                <a:latin typeface="Roboto" panose="02000000000000000000" pitchFamily="2" charset="0"/>
                <a:ea typeface="Roboto" panose="02000000000000000000" pitchFamily="2" charset="0"/>
                <a:cs typeface="Roboto" panose="02000000000000000000" pitchFamily="2" charset="0"/>
              </a:rPr>
              <a:t>Key Message</a:t>
            </a:r>
          </a:p>
          <a:p>
            <a:r>
              <a:rPr lang="en-IN" sz="1200" dirty="0">
                <a:latin typeface="Roboto" panose="02000000000000000000" pitchFamily="2" charset="0"/>
                <a:ea typeface="Roboto" panose="02000000000000000000" pitchFamily="2" charset="0"/>
                <a:cs typeface="Roboto" panose="02000000000000000000" pitchFamily="2" charset="0"/>
              </a:rPr>
              <a:t>Three trial stores (77, 86 and 88) were evaluated against comparable control stores to measure the effectiveness of the new store layout.</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dirty="0"/>
              <a:t>CONTROL STORE VS TRIAL STORE COMPARISON</a:t>
            </a:r>
            <a:endParaRPr lang="en-AU" dirty="0"/>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3"/>
          <a:stretch>
            <a:fillRect/>
          </a:stretch>
        </p:blipFill>
        <p:spPr>
          <a:xfrm>
            <a:off x="12305402" y="0"/>
            <a:ext cx="1993565" cy="1822862"/>
          </a:xfrm>
          <a:prstGeom prst="rect">
            <a:avLst/>
          </a:prstGeom>
        </p:spPr>
      </p:pic>
      <p:pic>
        <p:nvPicPr>
          <p:cNvPr id="5" name="Picture 4">
            <a:extLst>
              <a:ext uri="{FF2B5EF4-FFF2-40B4-BE49-F238E27FC236}">
                <a16:creationId xmlns:a16="http://schemas.microsoft.com/office/drawing/2014/main" id="{95D965C6-A651-A89D-4286-8DDB0BDCD8FA}"/>
              </a:ext>
            </a:extLst>
          </p:cNvPr>
          <p:cNvPicPr>
            <a:picLocks noChangeAspect="1"/>
          </p:cNvPicPr>
          <p:nvPr/>
        </p:nvPicPr>
        <p:blipFill>
          <a:blip r:embed="rId4">
            <a:extLst>
              <a:ext uri="{28A0092B-C50C-407E-A947-70E740481C1C}">
                <a14:useLocalDpi xmlns:a14="http://schemas.microsoft.com/office/drawing/2010/main" val="0"/>
              </a:ext>
            </a:extLst>
          </a:blip>
          <a:srcRect t="6080"/>
          <a:stretch>
            <a:fillRect/>
          </a:stretch>
        </p:blipFill>
        <p:spPr>
          <a:xfrm>
            <a:off x="1125855" y="1616325"/>
            <a:ext cx="6097905" cy="4027796"/>
          </a:xfrm>
          <a:prstGeom prst="rect">
            <a:avLst/>
          </a:prstGeom>
        </p:spPr>
      </p:pic>
      <p:sp>
        <p:nvSpPr>
          <p:cNvPr id="7" name="TextBox 6">
            <a:extLst>
              <a:ext uri="{FF2B5EF4-FFF2-40B4-BE49-F238E27FC236}">
                <a16:creationId xmlns:a16="http://schemas.microsoft.com/office/drawing/2014/main" id="{395B8724-F996-3A38-B800-73974220A4C0}"/>
              </a:ext>
            </a:extLst>
          </p:cNvPr>
          <p:cNvSpPr txBox="1"/>
          <p:nvPr/>
        </p:nvSpPr>
        <p:spPr>
          <a:xfrm>
            <a:off x="1125855" y="865571"/>
            <a:ext cx="7679952" cy="338554"/>
          </a:xfrm>
          <a:prstGeom prst="rect">
            <a:avLst/>
          </a:prstGeom>
          <a:noFill/>
        </p:spPr>
        <p:txBody>
          <a:bodyPr wrap="square">
            <a:spAutoFit/>
          </a:bodyPr>
          <a:lstStyle/>
          <a:p>
            <a:r>
              <a:rPr lang="en-IN" sz="1600" dirty="0"/>
              <a:t>Control stores closely matched trial store performance before the trial period.</a:t>
            </a:r>
          </a:p>
        </p:txBody>
      </p:sp>
      <p:sp>
        <p:nvSpPr>
          <p:cNvPr id="8" name="Rectangle 7">
            <a:extLst>
              <a:ext uri="{FF2B5EF4-FFF2-40B4-BE49-F238E27FC236}">
                <a16:creationId xmlns:a16="http://schemas.microsoft.com/office/drawing/2014/main" id="{80EA11A8-ED7B-63C3-A30C-F996202302A0}"/>
              </a:ext>
            </a:extLst>
          </p:cNvPr>
          <p:cNvSpPr/>
          <p:nvPr/>
        </p:nvSpPr>
        <p:spPr>
          <a:xfrm>
            <a:off x="7701280" y="1689971"/>
            <a:ext cx="3789680" cy="3247789"/>
          </a:xfrm>
          <a:prstGeom prst="rect">
            <a:avLst/>
          </a:prstGeom>
          <a:solidFill>
            <a:srgbClr val="ECE8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600" b="1" dirty="0">
                <a:solidFill>
                  <a:schemeClr val="tx1"/>
                </a:solidFill>
                <a:latin typeface="Roboto" panose="02000000000000000000" pitchFamily="2" charset="0"/>
                <a:ea typeface="Roboto" panose="02000000000000000000" pitchFamily="2" charset="0"/>
                <a:cs typeface="Roboto" panose="02000000000000000000" pitchFamily="2" charset="0"/>
              </a:rPr>
              <a:t>     Key Findings</a:t>
            </a:r>
          </a:p>
          <a:p>
            <a:endParaRPr lang="en-IN" sz="1400" b="1" dirty="0">
              <a:solidFill>
                <a:schemeClr val="tx1"/>
              </a:solidFill>
              <a:latin typeface="Roboto" panose="02000000000000000000" pitchFamily="2"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Store 233 showed similar historical sales patterns to Trial Store 77.</a:t>
            </a:r>
          </a:p>
          <a:p>
            <a:endParaRPr lang="en-IN" sz="12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Store 155 was selected as the closest match for Trial Store 86.</a:t>
            </a:r>
            <a:endParaRPr lang="en-IN" sz="12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endParaRPr lang="en-IN" sz="1200" dirty="0">
              <a:solidFill>
                <a:schemeClr val="tx1"/>
              </a:solidFill>
              <a:latin typeface="Roboto" panose="02000000000000000000" pitchFamily="2" charset="0"/>
              <a:ea typeface="Roboto" panose="02000000000000000000" pitchFamily="2" charset="0"/>
              <a:cs typeface="Roboto" panose="02000000000000000000" pitchFamily="2" charset="0"/>
            </a:endParaRPr>
          </a:p>
          <a:p>
            <a:pPr marL="285750" indent="-285750">
              <a:buFont typeface="Arial" panose="020B0604020202020204" pitchFamily="34" charset="0"/>
              <a:buChar cha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Store 155 was selected as the closest match for Trial Store 86.</a:t>
            </a:r>
            <a:endParaRPr lang="en-IN" sz="1200" dirty="0" err="1">
              <a:solidFill>
                <a:schemeClr val="tx1"/>
              </a:solidFill>
              <a:latin typeface="Roboto Light" panose="02000000000000000000" pitchFamily="2" charset="0"/>
              <a:ea typeface="Roboto Light" panose="02000000000000000000" pitchFamily="2" charset="0"/>
            </a:endParaRPr>
          </a:p>
        </p:txBody>
      </p:sp>
      <p:sp>
        <p:nvSpPr>
          <p:cNvPr id="9" name="Rectangle 8">
            <a:extLst>
              <a:ext uri="{FF2B5EF4-FFF2-40B4-BE49-F238E27FC236}">
                <a16:creationId xmlns:a16="http://schemas.microsoft.com/office/drawing/2014/main" id="{0B5DDD43-C5EF-B401-0887-0DFD97E38772}"/>
              </a:ext>
            </a:extLst>
          </p:cNvPr>
          <p:cNvSpPr/>
          <p:nvPr/>
        </p:nvSpPr>
        <p:spPr>
          <a:xfrm>
            <a:off x="3081215" y="5852160"/>
            <a:ext cx="8595360" cy="55246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err="1">
              <a:solidFill>
                <a:srgbClr val="000005"/>
              </a:solidFill>
              <a:latin typeface="Roboto Light" panose="02000000000000000000" pitchFamily="2" charset="0"/>
              <a:ea typeface="Roboto Light" panose="02000000000000000000" pitchFamily="2" charset="0"/>
            </a:endParaRPr>
          </a:p>
        </p:txBody>
      </p:sp>
      <p:sp>
        <p:nvSpPr>
          <p:cNvPr id="10" name="TextBox 9">
            <a:extLst>
              <a:ext uri="{FF2B5EF4-FFF2-40B4-BE49-F238E27FC236}">
                <a16:creationId xmlns:a16="http://schemas.microsoft.com/office/drawing/2014/main" id="{075B7C8B-6BE4-7933-A9E9-99052084B059}"/>
              </a:ext>
            </a:extLst>
          </p:cNvPr>
          <p:cNvSpPr txBox="1"/>
          <p:nvPr/>
        </p:nvSpPr>
        <p:spPr>
          <a:xfrm>
            <a:off x="3281680" y="5943600"/>
            <a:ext cx="8757920" cy="552469"/>
          </a:xfrm>
          <a:prstGeom prst="rect">
            <a:avLst/>
          </a:prstGeom>
          <a:noFill/>
        </p:spPr>
        <p:txBody>
          <a:bodyPr wrap="square" lIns="0" tIns="0" rIns="0" bIns="0" rtlCol="0" anchor="t">
            <a:noAutofit/>
          </a:bodyPr>
          <a:lstStyle/>
          <a:p>
            <a:r>
              <a:rPr lang="en-US" sz="1200" b="1" dirty="0">
                <a:latin typeface="Roboto" panose="02000000000000000000" pitchFamily="2" charset="0"/>
                <a:ea typeface="Roboto" panose="02000000000000000000" pitchFamily="2" charset="0"/>
                <a:cs typeface="Roboto" panose="02000000000000000000" pitchFamily="2" charset="0"/>
              </a:rPr>
              <a:t>Business Insight :</a:t>
            </a:r>
          </a:p>
          <a:p>
            <a:r>
              <a:rPr lang="en-US" sz="1200" dirty="0">
                <a:latin typeface="Roboto" panose="02000000000000000000" pitchFamily="2" charset="0"/>
                <a:ea typeface="Roboto" panose="02000000000000000000" pitchFamily="2" charset="0"/>
                <a:cs typeface="Roboto" panose="02000000000000000000" pitchFamily="2" charset="0"/>
              </a:rPr>
              <a:t>The selected control stores provided a reliable benchmark for measuring the impact of the trial layout.</a:t>
            </a:r>
            <a:endParaRPr lang="en-IN" sz="1200" dirty="0" err="1">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TRIAL PERFORMANCE ASSESSMENT</a:t>
            </a:r>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3"/>
          <a:stretch>
            <a:fillRect/>
          </a:stretch>
        </p:blipFill>
        <p:spPr>
          <a:xfrm>
            <a:off x="12305518" y="0"/>
            <a:ext cx="1993565" cy="2005758"/>
          </a:xfrm>
          <a:prstGeom prst="rect">
            <a:avLst/>
          </a:prstGeom>
        </p:spPr>
      </p:pic>
      <p:sp>
        <p:nvSpPr>
          <p:cNvPr id="3" name="TextBox 2">
            <a:extLst>
              <a:ext uri="{FF2B5EF4-FFF2-40B4-BE49-F238E27FC236}">
                <a16:creationId xmlns:a16="http://schemas.microsoft.com/office/drawing/2014/main" id="{0957AED3-B8E7-CC75-BA9D-58BAA2BC362D}"/>
              </a:ext>
            </a:extLst>
          </p:cNvPr>
          <p:cNvSpPr txBox="1"/>
          <p:nvPr/>
        </p:nvSpPr>
        <p:spPr>
          <a:xfrm>
            <a:off x="1196974" y="853686"/>
            <a:ext cx="8536305" cy="599440"/>
          </a:xfrm>
          <a:prstGeom prst="rect">
            <a:avLst/>
          </a:prstGeom>
          <a:noFill/>
        </p:spPr>
        <p:txBody>
          <a:bodyPr wrap="square" lIns="0" tIns="0" rIns="0" bIns="0" rtlCol="0" anchor="t">
            <a:noAutofit/>
          </a:bodyPr>
          <a:lstStyle/>
          <a:p>
            <a:pPr>
              <a:lnSpc>
                <a:spcPct val="50000"/>
              </a:lnSpc>
            </a:pPr>
            <a:endParaRPr lang="en-US" sz="1600" b="1" dirty="0">
              <a:latin typeface="Roboto" panose="02000000000000000000" pitchFamily="2" charset="0"/>
              <a:ea typeface="Roboto" panose="02000000000000000000" pitchFamily="2" charset="0"/>
              <a:cs typeface="Roboto" panose="02000000000000000000" pitchFamily="2" charset="0"/>
            </a:endParaRPr>
          </a:p>
          <a:p>
            <a:r>
              <a:rPr lang="en-US" sz="1600" dirty="0">
                <a:ea typeface="Roboto" panose="02000000000000000000" pitchFamily="2" charset="0"/>
                <a:cs typeface="Roboto" panose="02000000000000000000" pitchFamily="2" charset="0"/>
              </a:rPr>
              <a:t>The trial layout delivered positive sales and customer growth across all trial stores.</a:t>
            </a:r>
            <a:endParaRPr lang="en-IN" sz="1600" dirty="0" err="1">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A7B13100-9790-CF35-8835-48AF5A1B83F8}"/>
              </a:ext>
            </a:extLst>
          </p:cNvPr>
          <p:cNvSpPr txBox="1"/>
          <p:nvPr/>
        </p:nvSpPr>
        <p:spPr>
          <a:xfrm>
            <a:off x="1196974" y="4257210"/>
            <a:ext cx="4612640" cy="1523830"/>
          </a:xfrm>
          <a:prstGeom prst="rect">
            <a:avLst/>
          </a:prstGeom>
          <a:noFill/>
        </p:spPr>
        <p:txBody>
          <a:bodyPr wrap="square" lIns="0" tIns="0" rIns="0" bIns="0" rtlCol="0" anchor="t">
            <a:noAutofit/>
          </a:bodyPr>
          <a:lstStyle/>
          <a:p>
            <a:r>
              <a:rPr lang="en-US" sz="1600" b="1" dirty="0">
                <a:latin typeface="Roboto" panose="02000000000000000000" pitchFamily="2" charset="0"/>
                <a:ea typeface="Roboto" panose="02000000000000000000" pitchFamily="2" charset="0"/>
                <a:cs typeface="Roboto" panose="02000000000000000000" pitchFamily="2" charset="0"/>
              </a:rPr>
              <a:t>Overall Conclusion</a:t>
            </a:r>
          </a:p>
          <a:p>
            <a:endParaRPr lang="en-US" sz="1600" b="1" dirty="0">
              <a:latin typeface="Roboto" panose="02000000000000000000" pitchFamily="2" charset="0"/>
              <a:ea typeface="Roboto" panose="02000000000000000000" pitchFamily="2" charset="0"/>
              <a:cs typeface="Roboto" panose="02000000000000000000" pitchFamily="2" charset="0"/>
            </a:endParaRPr>
          </a:p>
          <a:p>
            <a:r>
              <a:rPr lang="en-US" sz="1200" dirty="0">
                <a:latin typeface="Roboto" panose="02000000000000000000" pitchFamily="2" charset="0"/>
                <a:ea typeface="Roboto" panose="02000000000000000000" pitchFamily="2" charset="0"/>
                <a:cs typeface="Roboto" panose="02000000000000000000" pitchFamily="2" charset="0"/>
              </a:rPr>
              <a:t>All three trial stores recorded positive sales and customer growth compared to their matched control stores, indicating that the new store layout had a positive commercial impact.</a:t>
            </a:r>
            <a:endParaRPr lang="en-IN" sz="1050" dirty="0" err="1">
              <a:latin typeface="Roboto" panose="02000000000000000000" pitchFamily="2" charset="0"/>
              <a:ea typeface="Roboto" panose="02000000000000000000" pitchFamily="2" charset="0"/>
              <a:cs typeface="Roboto" panose="02000000000000000000" pitchFamily="2" charset="0"/>
            </a:endParaRPr>
          </a:p>
        </p:txBody>
      </p:sp>
      <p:graphicFrame>
        <p:nvGraphicFramePr>
          <p:cNvPr id="19" name="Table 18">
            <a:extLst>
              <a:ext uri="{FF2B5EF4-FFF2-40B4-BE49-F238E27FC236}">
                <a16:creationId xmlns:a16="http://schemas.microsoft.com/office/drawing/2014/main" id="{69BDF28A-7340-8376-3C8E-D7A516FF9331}"/>
              </a:ext>
            </a:extLst>
          </p:cNvPr>
          <p:cNvGraphicFramePr>
            <a:graphicFrameLocks noGrp="1"/>
          </p:cNvGraphicFramePr>
          <p:nvPr>
            <p:extLst>
              <p:ext uri="{D42A27DB-BD31-4B8C-83A1-F6EECF244321}">
                <p14:modId xmlns:p14="http://schemas.microsoft.com/office/powerpoint/2010/main" val="437367792"/>
              </p:ext>
            </p:extLst>
          </p:nvPr>
        </p:nvGraphicFramePr>
        <p:xfrm>
          <a:off x="1196974" y="1600030"/>
          <a:ext cx="5518788" cy="2291249"/>
        </p:xfrm>
        <a:graphic>
          <a:graphicData uri="http://schemas.openxmlformats.org/drawingml/2006/table">
            <a:tbl>
              <a:tblPr>
                <a:tableStyleId>{3C2FFA5D-87B4-456A-9821-1D502468CF0F}</a:tableStyleId>
              </a:tblPr>
              <a:tblGrid>
                <a:gridCol w="1379697">
                  <a:extLst>
                    <a:ext uri="{9D8B030D-6E8A-4147-A177-3AD203B41FA5}">
                      <a16:colId xmlns:a16="http://schemas.microsoft.com/office/drawing/2014/main" val="3073702432"/>
                    </a:ext>
                  </a:extLst>
                </a:gridCol>
                <a:gridCol w="1379697">
                  <a:extLst>
                    <a:ext uri="{9D8B030D-6E8A-4147-A177-3AD203B41FA5}">
                      <a16:colId xmlns:a16="http://schemas.microsoft.com/office/drawing/2014/main" val="1723962721"/>
                    </a:ext>
                  </a:extLst>
                </a:gridCol>
                <a:gridCol w="1379697">
                  <a:extLst>
                    <a:ext uri="{9D8B030D-6E8A-4147-A177-3AD203B41FA5}">
                      <a16:colId xmlns:a16="http://schemas.microsoft.com/office/drawing/2014/main" val="3679132012"/>
                    </a:ext>
                  </a:extLst>
                </a:gridCol>
                <a:gridCol w="1379697">
                  <a:extLst>
                    <a:ext uri="{9D8B030D-6E8A-4147-A177-3AD203B41FA5}">
                      <a16:colId xmlns:a16="http://schemas.microsoft.com/office/drawing/2014/main" val="2970267851"/>
                    </a:ext>
                  </a:extLst>
                </a:gridCol>
              </a:tblGrid>
              <a:tr h="684929">
                <a:tc>
                  <a:txBody>
                    <a:bodyPr/>
                    <a:lstStyle/>
                    <a:p>
                      <a:pPr>
                        <a:buNone/>
                      </a:pPr>
                      <a:r>
                        <a:rPr lang="en-IN"/>
                        <a:t>Trial Store</a:t>
                      </a:r>
                    </a:p>
                  </a:txBody>
                  <a:tcPr anchor="ctr"/>
                </a:tc>
                <a:tc>
                  <a:txBody>
                    <a:bodyPr/>
                    <a:lstStyle/>
                    <a:p>
                      <a:pPr>
                        <a:buNone/>
                      </a:pPr>
                      <a:r>
                        <a:rPr lang="en-IN"/>
                        <a:t>Control Store</a:t>
                      </a:r>
                    </a:p>
                  </a:txBody>
                  <a:tcPr anchor="ctr"/>
                </a:tc>
                <a:tc>
                  <a:txBody>
                    <a:bodyPr/>
                    <a:lstStyle/>
                    <a:p>
                      <a:pPr>
                        <a:buNone/>
                      </a:pPr>
                      <a:r>
                        <a:rPr lang="en-IN" dirty="0"/>
                        <a:t>Sales Uplift</a:t>
                      </a:r>
                    </a:p>
                  </a:txBody>
                  <a:tcPr anchor="ctr"/>
                </a:tc>
                <a:tc>
                  <a:txBody>
                    <a:bodyPr/>
                    <a:lstStyle/>
                    <a:p>
                      <a:pPr>
                        <a:buNone/>
                      </a:pPr>
                      <a:r>
                        <a:rPr lang="en-IN"/>
                        <a:t>Customer Uplift</a:t>
                      </a:r>
                    </a:p>
                  </a:txBody>
                  <a:tcPr anchor="ctr"/>
                </a:tc>
                <a:extLst>
                  <a:ext uri="{0D108BD9-81ED-4DB2-BD59-A6C34878D82A}">
                    <a16:rowId xmlns:a16="http://schemas.microsoft.com/office/drawing/2014/main" val="677259879"/>
                  </a:ext>
                </a:extLst>
              </a:tr>
              <a:tr h="535440">
                <a:tc>
                  <a:txBody>
                    <a:bodyPr/>
                    <a:lstStyle/>
                    <a:p>
                      <a:pPr>
                        <a:buNone/>
                      </a:pPr>
                      <a:r>
                        <a:rPr lang="en-IN"/>
                        <a:t>77</a:t>
                      </a:r>
                    </a:p>
                  </a:txBody>
                  <a:tcPr anchor="ctr"/>
                </a:tc>
                <a:tc>
                  <a:txBody>
                    <a:bodyPr/>
                    <a:lstStyle/>
                    <a:p>
                      <a:pPr>
                        <a:buNone/>
                      </a:pPr>
                      <a:r>
                        <a:rPr lang="en-IN"/>
                        <a:t>233</a:t>
                      </a:r>
                    </a:p>
                  </a:txBody>
                  <a:tcPr anchor="ctr"/>
                </a:tc>
                <a:tc>
                  <a:txBody>
                    <a:bodyPr/>
                    <a:lstStyle/>
                    <a:p>
                      <a:pPr>
                        <a:buNone/>
                      </a:pPr>
                      <a:r>
                        <a:rPr lang="en-IN"/>
                        <a:t>29.13%</a:t>
                      </a:r>
                    </a:p>
                  </a:txBody>
                  <a:tcPr anchor="ctr"/>
                </a:tc>
                <a:tc>
                  <a:txBody>
                    <a:bodyPr/>
                    <a:lstStyle/>
                    <a:p>
                      <a:pPr>
                        <a:buNone/>
                      </a:pPr>
                      <a:r>
                        <a:rPr lang="en-IN"/>
                        <a:t>23.48%</a:t>
                      </a:r>
                    </a:p>
                  </a:txBody>
                  <a:tcPr anchor="ctr"/>
                </a:tc>
                <a:extLst>
                  <a:ext uri="{0D108BD9-81ED-4DB2-BD59-A6C34878D82A}">
                    <a16:rowId xmlns:a16="http://schemas.microsoft.com/office/drawing/2014/main" val="1683402984"/>
                  </a:ext>
                </a:extLst>
              </a:tr>
              <a:tr h="535440">
                <a:tc>
                  <a:txBody>
                    <a:bodyPr/>
                    <a:lstStyle/>
                    <a:p>
                      <a:pPr>
                        <a:buNone/>
                      </a:pPr>
                      <a:r>
                        <a:rPr lang="en-IN"/>
                        <a:t>86</a:t>
                      </a:r>
                    </a:p>
                  </a:txBody>
                  <a:tcPr anchor="ctr"/>
                </a:tc>
                <a:tc>
                  <a:txBody>
                    <a:bodyPr/>
                    <a:lstStyle/>
                    <a:p>
                      <a:pPr>
                        <a:buNone/>
                      </a:pPr>
                      <a:r>
                        <a:rPr lang="en-IN" dirty="0"/>
                        <a:t>155</a:t>
                      </a:r>
                    </a:p>
                  </a:txBody>
                  <a:tcPr anchor="ctr"/>
                </a:tc>
                <a:tc>
                  <a:txBody>
                    <a:bodyPr/>
                    <a:lstStyle/>
                    <a:p>
                      <a:pPr>
                        <a:buNone/>
                      </a:pPr>
                      <a:r>
                        <a:rPr lang="en-IN"/>
                        <a:t>9.76%</a:t>
                      </a:r>
                    </a:p>
                  </a:txBody>
                  <a:tcPr anchor="ctr"/>
                </a:tc>
                <a:tc>
                  <a:txBody>
                    <a:bodyPr/>
                    <a:lstStyle/>
                    <a:p>
                      <a:pPr>
                        <a:buNone/>
                      </a:pPr>
                      <a:r>
                        <a:rPr lang="en-IN"/>
                        <a:t>13.54%</a:t>
                      </a:r>
                    </a:p>
                  </a:txBody>
                  <a:tcPr anchor="ctr"/>
                </a:tc>
                <a:extLst>
                  <a:ext uri="{0D108BD9-81ED-4DB2-BD59-A6C34878D82A}">
                    <a16:rowId xmlns:a16="http://schemas.microsoft.com/office/drawing/2014/main" val="1518764872"/>
                  </a:ext>
                </a:extLst>
              </a:tr>
              <a:tr h="535440">
                <a:tc>
                  <a:txBody>
                    <a:bodyPr/>
                    <a:lstStyle/>
                    <a:p>
                      <a:pPr>
                        <a:buNone/>
                      </a:pPr>
                      <a:r>
                        <a:rPr lang="en-IN"/>
                        <a:t>88</a:t>
                      </a:r>
                    </a:p>
                  </a:txBody>
                  <a:tcPr anchor="ctr"/>
                </a:tc>
                <a:tc>
                  <a:txBody>
                    <a:bodyPr/>
                    <a:lstStyle/>
                    <a:p>
                      <a:pPr>
                        <a:buNone/>
                      </a:pPr>
                      <a:r>
                        <a:rPr lang="en-IN"/>
                        <a:t>125</a:t>
                      </a:r>
                    </a:p>
                  </a:txBody>
                  <a:tcPr anchor="ctr"/>
                </a:tc>
                <a:tc>
                  <a:txBody>
                    <a:bodyPr/>
                    <a:lstStyle/>
                    <a:p>
                      <a:pPr>
                        <a:buNone/>
                      </a:pPr>
                      <a:r>
                        <a:rPr lang="en-IN"/>
                        <a:t>29.13%</a:t>
                      </a:r>
                    </a:p>
                  </a:txBody>
                  <a:tcPr anchor="ctr"/>
                </a:tc>
                <a:tc>
                  <a:txBody>
                    <a:bodyPr/>
                    <a:lstStyle/>
                    <a:p>
                      <a:pPr>
                        <a:buNone/>
                      </a:pPr>
                      <a:r>
                        <a:rPr lang="en-IN" dirty="0"/>
                        <a:t>22.54%</a:t>
                      </a:r>
                    </a:p>
                  </a:txBody>
                  <a:tcPr anchor="ctr"/>
                </a:tc>
                <a:extLst>
                  <a:ext uri="{0D108BD9-81ED-4DB2-BD59-A6C34878D82A}">
                    <a16:rowId xmlns:a16="http://schemas.microsoft.com/office/drawing/2014/main" val="1390881844"/>
                  </a:ext>
                </a:extLst>
              </a:tr>
            </a:tbl>
          </a:graphicData>
        </a:graphic>
      </p:graphicFrame>
      <p:sp>
        <p:nvSpPr>
          <p:cNvPr id="20" name="Rectangle 19">
            <a:extLst>
              <a:ext uri="{FF2B5EF4-FFF2-40B4-BE49-F238E27FC236}">
                <a16:creationId xmlns:a16="http://schemas.microsoft.com/office/drawing/2014/main" id="{5EB57521-723B-7DA6-6765-8FBD18EB68FD}"/>
              </a:ext>
            </a:extLst>
          </p:cNvPr>
          <p:cNvSpPr/>
          <p:nvPr/>
        </p:nvSpPr>
        <p:spPr>
          <a:xfrm>
            <a:off x="7213600" y="1553468"/>
            <a:ext cx="4592320" cy="3140452"/>
          </a:xfrm>
          <a:prstGeom prst="rect">
            <a:avLst/>
          </a:prstGeom>
          <a:solidFill>
            <a:schemeClr val="bg2">
              <a:lumMod val="90000"/>
            </a:schemeClr>
          </a:solidFill>
          <a:ln>
            <a:solidFill>
              <a:schemeClr val="bg2">
                <a:lumMod val="90000"/>
              </a:schemeClr>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b="1" dirty="0" err="1">
              <a:ln w="22225">
                <a:solidFill>
                  <a:schemeClr val="accent2"/>
                </a:solidFill>
                <a:prstDash val="solid"/>
              </a:ln>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1" name="TextBox 20">
            <a:extLst>
              <a:ext uri="{FF2B5EF4-FFF2-40B4-BE49-F238E27FC236}">
                <a16:creationId xmlns:a16="http://schemas.microsoft.com/office/drawing/2014/main" id="{E6EA8311-AFDC-2C64-9BD8-4855677C3B43}"/>
              </a:ext>
            </a:extLst>
          </p:cNvPr>
          <p:cNvSpPr txBox="1"/>
          <p:nvPr/>
        </p:nvSpPr>
        <p:spPr>
          <a:xfrm>
            <a:off x="7415825" y="1683103"/>
            <a:ext cx="4461215" cy="3252213"/>
          </a:xfrm>
          <a:prstGeom prst="rect">
            <a:avLst/>
          </a:prstGeom>
          <a:noFill/>
        </p:spPr>
        <p:txBody>
          <a:bodyPr wrap="square" lIns="0" tIns="0" rIns="0" bIns="0" rtlCol="0" anchor="t">
            <a:noAutofit/>
          </a:bodyPr>
          <a:lstStyle/>
          <a:p>
            <a:r>
              <a:rPr lang="en-IN" sz="1600" b="1" dirty="0">
                <a:latin typeface="Roboto" panose="02000000000000000000" pitchFamily="2" charset="0"/>
                <a:ea typeface="Roboto" panose="02000000000000000000" pitchFamily="2" charset="0"/>
                <a:cs typeface="Roboto" panose="02000000000000000000" pitchFamily="2" charset="0"/>
              </a:rPr>
              <a:t>Key Callouts :</a:t>
            </a:r>
          </a:p>
          <a:p>
            <a:endParaRPr lang="en-IN" sz="1600" b="1" dirty="0">
              <a:latin typeface="Roboto" panose="02000000000000000000" pitchFamily="2" charset="0"/>
              <a:ea typeface="Roboto" panose="02000000000000000000" pitchFamily="2" charset="0"/>
              <a:cs typeface="Roboto" panose="02000000000000000000" pitchFamily="2" charset="0"/>
            </a:endParaRPr>
          </a:p>
          <a:p>
            <a:r>
              <a:rPr lang="en-IN" sz="1400" b="1" dirty="0">
                <a:latin typeface="Roboto" panose="02000000000000000000" pitchFamily="2" charset="0"/>
                <a:ea typeface="Roboto" panose="02000000000000000000" pitchFamily="2" charset="0"/>
                <a:cs typeface="Roboto" panose="02000000000000000000" pitchFamily="2" charset="0"/>
              </a:rPr>
              <a:t>Store 77</a:t>
            </a:r>
          </a:p>
          <a:p>
            <a:r>
              <a:rPr lang="en-US" sz="1200" dirty="0">
                <a:latin typeface="Roboto" panose="02000000000000000000" pitchFamily="2" charset="0"/>
                <a:ea typeface="Roboto" panose="02000000000000000000" pitchFamily="2" charset="0"/>
                <a:cs typeface="Roboto" panose="02000000000000000000" pitchFamily="2" charset="0"/>
              </a:rPr>
              <a:t>Delivered the strongest performance with</a:t>
            </a:r>
          </a:p>
          <a:p>
            <a:r>
              <a:rPr lang="en-US" sz="1200" dirty="0">
                <a:latin typeface="Roboto" panose="02000000000000000000" pitchFamily="2" charset="0"/>
                <a:ea typeface="Roboto" panose="02000000000000000000" pitchFamily="2" charset="0"/>
                <a:cs typeface="Roboto" panose="02000000000000000000" pitchFamily="2" charset="0"/>
              </a:rPr>
              <a:t>29.13% sales uplift and 23.48% customer uplift.</a:t>
            </a:r>
          </a:p>
          <a:p>
            <a:endParaRPr lang="en-US" sz="1200" dirty="0">
              <a:latin typeface="Roboto" panose="02000000000000000000" pitchFamily="2" charset="0"/>
              <a:ea typeface="Roboto" panose="02000000000000000000" pitchFamily="2" charset="0"/>
              <a:cs typeface="Roboto" panose="02000000000000000000" pitchFamily="2" charset="0"/>
            </a:endParaRPr>
          </a:p>
          <a:p>
            <a:r>
              <a:rPr lang="en-IN" sz="1400" b="1" dirty="0">
                <a:latin typeface="Roboto" panose="02000000000000000000" pitchFamily="2" charset="0"/>
                <a:ea typeface="Roboto" panose="02000000000000000000" pitchFamily="2" charset="0"/>
                <a:cs typeface="Roboto" panose="02000000000000000000" pitchFamily="2" charset="0"/>
              </a:rPr>
              <a:t>Store 86</a:t>
            </a:r>
          </a:p>
          <a:p>
            <a:r>
              <a:rPr lang="en-US" sz="1200" dirty="0">
                <a:latin typeface="Roboto" panose="02000000000000000000" pitchFamily="2" charset="0"/>
                <a:ea typeface="Roboto" panose="02000000000000000000" pitchFamily="2" charset="0"/>
                <a:cs typeface="Roboto" panose="02000000000000000000" pitchFamily="2" charset="0"/>
              </a:rPr>
              <a:t>Achieved positive sales growth despite a</a:t>
            </a:r>
          </a:p>
          <a:p>
            <a:r>
              <a:rPr lang="en-US" sz="1200" dirty="0">
                <a:latin typeface="Roboto" panose="02000000000000000000" pitchFamily="2" charset="0"/>
                <a:ea typeface="Roboto" panose="02000000000000000000" pitchFamily="2" charset="0"/>
                <a:cs typeface="Roboto" panose="02000000000000000000" pitchFamily="2" charset="0"/>
              </a:rPr>
              <a:t>more moderate uplift than other trial stores.</a:t>
            </a:r>
          </a:p>
          <a:p>
            <a:endParaRPr lang="en-US" sz="1200" dirty="0">
              <a:latin typeface="Roboto" panose="02000000000000000000" pitchFamily="2" charset="0"/>
              <a:ea typeface="Roboto" panose="02000000000000000000" pitchFamily="2" charset="0"/>
              <a:cs typeface="Roboto" panose="02000000000000000000" pitchFamily="2" charset="0"/>
            </a:endParaRPr>
          </a:p>
          <a:p>
            <a:r>
              <a:rPr lang="en-IN" sz="1400" b="1" dirty="0">
                <a:latin typeface="Roboto" panose="02000000000000000000" pitchFamily="2" charset="0"/>
                <a:ea typeface="Roboto" panose="02000000000000000000" pitchFamily="2" charset="0"/>
                <a:cs typeface="Roboto" panose="02000000000000000000" pitchFamily="2" charset="0"/>
              </a:rPr>
              <a:t>Store 88</a:t>
            </a:r>
          </a:p>
          <a:p>
            <a:r>
              <a:rPr lang="en-US" sz="1200" dirty="0">
                <a:latin typeface="Roboto" panose="02000000000000000000" pitchFamily="2" charset="0"/>
                <a:ea typeface="Roboto" panose="02000000000000000000" pitchFamily="2" charset="0"/>
                <a:cs typeface="Roboto" panose="02000000000000000000" pitchFamily="2" charset="0"/>
              </a:rPr>
              <a:t>Recorded significant improvement in both</a:t>
            </a:r>
          </a:p>
          <a:p>
            <a:r>
              <a:rPr lang="en-US" sz="1200" dirty="0">
                <a:latin typeface="Roboto" panose="02000000000000000000" pitchFamily="2" charset="0"/>
                <a:ea typeface="Roboto" panose="02000000000000000000" pitchFamily="2" charset="0"/>
                <a:cs typeface="Roboto" panose="02000000000000000000" pitchFamily="2" charset="0"/>
              </a:rPr>
              <a:t>sales and customer numbers.</a:t>
            </a:r>
            <a:endParaRPr lang="en-IN" sz="1200" dirty="0">
              <a:latin typeface="Roboto" panose="02000000000000000000" pitchFamily="2" charset="0"/>
              <a:ea typeface="Roboto" panose="02000000000000000000" pitchFamily="2" charset="0"/>
              <a:cs typeface="Roboto" panose="02000000000000000000" pitchFamily="2" charset="0"/>
            </a:endParaRPr>
          </a:p>
        </p:txBody>
      </p:sp>
      <p:sp>
        <p:nvSpPr>
          <p:cNvPr id="23" name="Rectangle 22">
            <a:extLst>
              <a:ext uri="{FF2B5EF4-FFF2-40B4-BE49-F238E27FC236}">
                <a16:creationId xmlns:a16="http://schemas.microsoft.com/office/drawing/2014/main" id="{81953A17-4035-CD1E-A574-053563462015}"/>
              </a:ext>
            </a:extLst>
          </p:cNvPr>
          <p:cNvSpPr/>
          <p:nvPr/>
        </p:nvSpPr>
        <p:spPr>
          <a:xfrm>
            <a:off x="2991145" y="5913120"/>
            <a:ext cx="8849360" cy="59944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dirty="0" err="1">
              <a:solidFill>
                <a:srgbClr val="000005"/>
              </a:solidFill>
              <a:latin typeface="Roboto Light" panose="02000000000000000000" pitchFamily="2" charset="0"/>
              <a:ea typeface="Roboto Light" panose="02000000000000000000" pitchFamily="2" charset="0"/>
            </a:endParaRPr>
          </a:p>
        </p:txBody>
      </p:sp>
      <p:sp>
        <p:nvSpPr>
          <p:cNvPr id="22" name="TextBox 21">
            <a:extLst>
              <a:ext uri="{FF2B5EF4-FFF2-40B4-BE49-F238E27FC236}">
                <a16:creationId xmlns:a16="http://schemas.microsoft.com/office/drawing/2014/main" id="{270DF5C7-F0B8-A1D6-7B28-F38D95D683A3}"/>
              </a:ext>
            </a:extLst>
          </p:cNvPr>
          <p:cNvSpPr txBox="1"/>
          <p:nvPr/>
        </p:nvSpPr>
        <p:spPr>
          <a:xfrm>
            <a:off x="3102905" y="5913120"/>
            <a:ext cx="8849360" cy="599440"/>
          </a:xfrm>
          <a:prstGeom prst="rect">
            <a:avLst/>
          </a:prstGeom>
          <a:noFill/>
        </p:spPr>
        <p:txBody>
          <a:bodyPr wrap="square" lIns="0" tIns="0" rIns="0" bIns="0" rtlCol="0" anchor="t">
            <a:noAutofit/>
          </a:bodyPr>
          <a:lstStyle/>
          <a:p>
            <a:r>
              <a:rPr lang="en-US" sz="1400" b="1" dirty="0">
                <a:latin typeface="Roboto" panose="02000000000000000000" pitchFamily="2" charset="0"/>
                <a:ea typeface="Roboto" panose="02000000000000000000" pitchFamily="2" charset="0"/>
                <a:cs typeface="Roboto" panose="02000000000000000000" pitchFamily="2" charset="0"/>
              </a:rPr>
              <a:t>Recommendation</a:t>
            </a:r>
          </a:p>
          <a:p>
            <a:endParaRPr lang="en-US" sz="1200" dirty="0">
              <a:latin typeface="Roboto Light" panose="02000000000000000000" pitchFamily="2" charset="0"/>
              <a:ea typeface="Roboto Light" panose="02000000000000000000" pitchFamily="2" charset="0"/>
            </a:endParaRPr>
          </a:p>
          <a:p>
            <a:r>
              <a:rPr lang="en-US" sz="1200" dirty="0">
                <a:latin typeface="Roboto" panose="02000000000000000000" pitchFamily="2" charset="0"/>
                <a:ea typeface="Roboto" panose="02000000000000000000" pitchFamily="2" charset="0"/>
                <a:cs typeface="Roboto" panose="02000000000000000000" pitchFamily="2" charset="0"/>
              </a:rPr>
              <a:t>Roll out the new store layout to similar stores and continue monitoring performance to validate long-term benefits.</a:t>
            </a:r>
            <a:endParaRPr lang="en-IN" sz="1200" dirty="0" err="1">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6430</TotalTime>
  <Words>1015</Words>
  <Application>Microsoft Office PowerPoint</Application>
  <PresentationFormat>Widescreen</PresentationFormat>
  <Paragraphs>192</Paragraphs>
  <Slides>11</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vt:lpstr>
      <vt:lpstr>Arial</vt:lpstr>
      <vt:lpstr>Roboto Medium</vt:lpstr>
      <vt:lpstr>Calibri</vt:lpstr>
      <vt:lpstr>Roboto Light</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suraj yadav</cp:lastModifiedBy>
  <cp:revision>465</cp:revision>
  <dcterms:created xsi:type="dcterms:W3CDTF">2018-02-07T23:23:24Z</dcterms:created>
  <dcterms:modified xsi:type="dcterms:W3CDTF">2026-06-05T09:26:56Z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